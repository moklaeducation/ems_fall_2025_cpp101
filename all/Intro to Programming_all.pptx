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8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3" r:id="rId10"/>
    <p:sldId id="265" r:id="rId11"/>
    <p:sldId id="266" r:id="rId12"/>
    <p:sldId id="267" r:id="rId13"/>
    <p:sldId id="272" r:id="rId14"/>
    <p:sldId id="268" r:id="rId15"/>
    <p:sldId id="269" r:id="rId16"/>
    <p:sldId id="270" r:id="rId17"/>
    <p:sldId id="271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2" r:id="rId26"/>
    <p:sldId id="292" r:id="rId27"/>
    <p:sldId id="293" r:id="rId28"/>
    <p:sldId id="294" r:id="rId29"/>
    <p:sldId id="283" r:id="rId30"/>
    <p:sldId id="285" r:id="rId31"/>
    <p:sldId id="286" r:id="rId32"/>
    <p:sldId id="288" r:id="rId33"/>
    <p:sldId id="284" r:id="rId34"/>
    <p:sldId id="289" r:id="rId35"/>
    <p:sldId id="290" r:id="rId36"/>
    <p:sldId id="291" r:id="rId37"/>
    <p:sldId id="295" r:id="rId38"/>
    <p:sldId id="296" r:id="rId39"/>
    <p:sldId id="300" r:id="rId40"/>
    <p:sldId id="301" r:id="rId41"/>
    <p:sldId id="302" r:id="rId42"/>
    <p:sldId id="297" r:id="rId43"/>
    <p:sldId id="298" r:id="rId44"/>
    <p:sldId id="303" r:id="rId45"/>
    <p:sldId id="304" r:id="rId46"/>
    <p:sldId id="306" r:id="rId47"/>
    <p:sldId id="305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8" r:id="rId59"/>
    <p:sldId id="321" r:id="rId60"/>
    <p:sldId id="322" r:id="rId61"/>
    <p:sldId id="317" r:id="rId62"/>
    <p:sldId id="319" r:id="rId63"/>
    <p:sldId id="320" r:id="rId64"/>
    <p:sldId id="323" r:id="rId65"/>
    <p:sldId id="324" r:id="rId66"/>
    <p:sldId id="325" r:id="rId67"/>
    <p:sldId id="326" r:id="rId68"/>
    <p:sldId id="327" r:id="rId69"/>
    <p:sldId id="328" r:id="rId70"/>
    <p:sldId id="329" r:id="rId71"/>
    <p:sldId id="331" r:id="rId72"/>
    <p:sldId id="332" r:id="rId73"/>
    <p:sldId id="330" r:id="rId74"/>
    <p:sldId id="333" r:id="rId75"/>
    <p:sldId id="334" r:id="rId76"/>
    <p:sldId id="337" r:id="rId77"/>
    <p:sldId id="335" r:id="rId78"/>
    <p:sldId id="336" r:id="rId79"/>
    <p:sldId id="338" r:id="rId80"/>
    <p:sldId id="339" r:id="rId81"/>
    <p:sldId id="340" r:id="rId82"/>
    <p:sldId id="341" r:id="rId83"/>
    <p:sldId id="281" r:id="rId84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6B037823-2F6A-4306-BCD4-ADE155C7FDD3}">
          <p14:sldIdLst>
            <p14:sldId id="256"/>
            <p14:sldId id="258"/>
            <p14:sldId id="259"/>
            <p14:sldId id="260"/>
            <p14:sldId id="261"/>
            <p14:sldId id="262"/>
            <p14:sldId id="263"/>
            <p14:sldId id="264"/>
            <p14:sldId id="273"/>
            <p14:sldId id="265"/>
            <p14:sldId id="266"/>
            <p14:sldId id="267"/>
            <p14:sldId id="272"/>
            <p14:sldId id="268"/>
            <p14:sldId id="269"/>
            <p14:sldId id="270"/>
            <p14:sldId id="271"/>
            <p14:sldId id="274"/>
            <p14:sldId id="275"/>
            <p14:sldId id="276"/>
            <p14:sldId id="277"/>
            <p14:sldId id="278"/>
            <p14:sldId id="279"/>
            <p14:sldId id="280"/>
            <p14:sldId id="282"/>
            <p14:sldId id="292"/>
            <p14:sldId id="293"/>
            <p14:sldId id="294"/>
            <p14:sldId id="283"/>
            <p14:sldId id="285"/>
            <p14:sldId id="286"/>
            <p14:sldId id="288"/>
            <p14:sldId id="284"/>
            <p14:sldId id="289"/>
            <p14:sldId id="290"/>
            <p14:sldId id="291"/>
            <p14:sldId id="295"/>
            <p14:sldId id="296"/>
            <p14:sldId id="300"/>
            <p14:sldId id="301"/>
            <p14:sldId id="302"/>
            <p14:sldId id="297"/>
            <p14:sldId id="298"/>
            <p14:sldId id="303"/>
            <p14:sldId id="304"/>
            <p14:sldId id="306"/>
            <p14:sldId id="305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8"/>
            <p14:sldId id="321"/>
            <p14:sldId id="322"/>
            <p14:sldId id="317"/>
            <p14:sldId id="319"/>
            <p14:sldId id="320"/>
            <p14:sldId id="323"/>
            <p14:sldId id="324"/>
            <p14:sldId id="325"/>
            <p14:sldId id="326"/>
            <p14:sldId id="327"/>
            <p14:sldId id="328"/>
            <p14:sldId id="329"/>
            <p14:sldId id="331"/>
            <p14:sldId id="332"/>
            <p14:sldId id="330"/>
            <p14:sldId id="333"/>
            <p14:sldId id="334"/>
            <p14:sldId id="337"/>
            <p14:sldId id="335"/>
            <p14:sldId id="336"/>
            <p14:sldId id="338"/>
            <p14:sldId id="339"/>
            <p14:sldId id="340"/>
            <p14:sldId id="341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5" autoAdjust="0"/>
    <p:restoredTop sz="93996" autoAdjust="0"/>
  </p:normalViewPr>
  <p:slideViewPr>
    <p:cSldViewPr snapToGrid="0">
      <p:cViewPr varScale="1">
        <p:scale>
          <a:sx n="145" d="100"/>
          <a:sy n="145" d="100"/>
        </p:scale>
        <p:origin x="124" y="232"/>
      </p:cViewPr>
      <p:guideLst/>
    </p:cSldViewPr>
  </p:slideViewPr>
  <p:outlineViewPr>
    <p:cViewPr>
      <p:scale>
        <a:sx n="33" d="100"/>
        <a:sy n="33" d="100"/>
      </p:scale>
      <p:origin x="0" y="-784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FEC988-D264-4851-9784-E262DEC12FF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1B746-F1BE-4FDA-B1C6-BC3A66A5A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211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1D96A-5B82-3517-0D3E-77956BE0D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41E615-8A3D-E6F5-94EE-9BDEF870A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D49E3-BA40-CDED-5CCC-ABFAB3607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FB2DD-DF35-4B84-9135-C0E6A5E9FBB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77575-7ED1-4D12-262E-8ACD007ED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9C61D-ED1F-E2C3-EF90-29FFCFB78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231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A0CAC-964C-C71D-259E-E38BAAD95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64D4C-6677-0424-DB24-753CC106B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FCA13-5CB6-998A-A3EB-632B66146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FB2DD-DF35-4B84-9135-C0E6A5E9FBB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B6161-145B-448C-D644-5F81F013E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FC021-08DD-6D2D-1769-E4ADE84F5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802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0CC94-79A4-42F3-3925-89DF65533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99BD4-7C5C-B451-1DB1-84B3CA9C4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F041B-A130-03E3-2176-5C66FC098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FB2DD-DF35-4B84-9135-C0E6A5E9FBB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2ED42-AA15-757C-C260-3ACD68D35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EFE45-01E1-A48C-4F9C-D847D43DA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267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7889A-3CE7-7CDF-3F3B-CB14D2ADB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050D3-00E6-3A51-3ECF-A566AEA329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7BBA6-FAA2-B8D1-B23F-9B7CE1EDA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BD7335-D4A3-2768-303C-1A1A0D2D7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FB2DD-DF35-4B84-9135-C0E6A5E9FBB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643AF-B234-9F43-AC0E-D21357295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47DD78-D762-7F8D-CD70-741B47853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433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D44FF-F4F0-4594-0231-E1ABA2074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1B3D0-4E13-DF1B-BAFE-3325F5ABB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803CBB-5DE0-17AC-588D-EC84B8E3BE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F40CF8-D25C-6E27-9ABA-245D55871D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C323A8-8CDE-366F-2B44-57DD86DC42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918A8-ABB5-64B2-A6D0-36505F598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FB2DD-DF35-4B84-9135-C0E6A5E9FBB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73729C-6C27-77F6-B09A-44A106EB0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A24194-68CB-24CD-A20F-7853EC88A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014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217F-4A0E-E4C7-A214-86EE1DDB1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62E6FC-22A8-93BE-A47E-8C98E0DA0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FB2DD-DF35-4B84-9135-C0E6A5E9FBB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5C21E-183E-28E3-F120-AAB7E99FB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8415AD-708C-E26D-6F6C-0890D95A8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008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44FB44-ABBB-A832-DAF5-72F555792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FB2DD-DF35-4B84-9135-C0E6A5E9FBB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2D08AA-9EAE-F7FA-D1F0-97E17DE59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59DC4-5E37-188B-84A1-33243D5DB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492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E2C78-0783-B9DB-0377-5DA7EEFB4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B01FF-0BB8-1AA3-D610-37E538B4C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2E4D2-E0B9-F45C-E21D-C00D0F786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8D1468-324E-D06E-4EE9-52204EF7F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FB2DD-DF35-4B84-9135-C0E6A5E9FBB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1631ED-1523-2347-A3E9-A52A541AF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F5E2AD-5004-00B6-80F8-BB51DBAA1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413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84ADE-B521-9FFF-CAF8-5AC49FCCC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6325DA-48D4-D3D5-40BF-998F0E40AE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ACC8FA-8E30-5B7E-3585-F6E7FC919C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C6FCDE-C373-F444-881F-587A310FE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FB2DD-DF35-4B84-9135-C0E6A5E9FBB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0DB358-6263-6283-D55E-B3F5ACE1D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CA3B32-13BA-5ECA-0A9C-81C373ECF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96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5D759-4925-005E-C9EB-0226AFF34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1195DD-240C-FF59-8A3E-3313B66D79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47F10-5A1E-F60F-7595-9D3ACDCCE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FB2DD-DF35-4B84-9135-C0E6A5E9FBB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3CE6E-9E26-B84D-CCC8-847122EC0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5E203-1B06-BB4D-FFF0-E68795AC0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922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6200C7-3EE2-9735-790E-4F43675A8A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2B5369-46CD-566E-5414-F24D096CF2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58DBB-85A6-10ED-D866-BFC578FF4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FB2DD-DF35-4B84-9135-C0E6A5E9FBB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FC6E6-18C0-AFFD-FA01-46A0DD7F8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3BBE9-27A0-B9EF-27DA-55F36CCFE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326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0F39AF-8AD1-1857-3922-9720DA398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172FF-495B-D06E-1445-74453FC8D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A7D76-9332-A1C1-FC77-23670EA9DA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9FB2DD-DF35-4B84-9135-C0E6A5E9FBB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72FAB-5CAD-2720-9F24-B0489E4DEC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1E4D7-1EDC-9818-CAC6-AAC39A0307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C9E123-0CB8-4CD3-A52F-DDEB9B178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08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588BC-3A2A-00D1-5FF5-716B49C4DB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 to Programming	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143670-43CB-A164-D2D3-47FDA1D613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C/C++</a:t>
            </a:r>
          </a:p>
          <a:p>
            <a:r>
              <a:rPr lang="en-US"/>
              <a:t>Sankalp Gupta</a:t>
            </a:r>
          </a:p>
          <a:p>
            <a:r>
              <a:rPr lang="en-US" dirty="0"/>
              <a:t>moklaeducation@gmail.com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AEF45-3E72-6245-F9E7-6B2B148CD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6E1C6-C9A6-8A3A-FF13-C912993D7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889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B02D0-2062-7B56-E0FD-462A21047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8438-9DC9-FBF6-5094-C7998B101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Comfort with </a:t>
            </a:r>
          </a:p>
          <a:p>
            <a:pPr lvl="1"/>
            <a:r>
              <a:rPr lang="en-US" dirty="0"/>
              <a:t>Basics of C/C++</a:t>
            </a:r>
          </a:p>
          <a:p>
            <a:pPr lvl="1"/>
            <a:r>
              <a:rPr lang="en-US" dirty="0"/>
              <a:t>Basics of Computer Science</a:t>
            </a:r>
          </a:p>
          <a:p>
            <a:r>
              <a:rPr lang="en-US" dirty="0"/>
              <a:t>Familiarity with IDE</a:t>
            </a:r>
          </a:p>
          <a:p>
            <a:pPr lvl="1"/>
            <a:r>
              <a:rPr lang="en-US" dirty="0"/>
              <a:t>Visual Studio Community Edition</a:t>
            </a:r>
          </a:p>
          <a:p>
            <a:r>
              <a:rPr lang="en-US" dirty="0"/>
              <a:t>Thinking logically</a:t>
            </a:r>
          </a:p>
          <a:p>
            <a:pPr lvl="1"/>
            <a:r>
              <a:rPr lang="en-US" dirty="0"/>
              <a:t>i.e. One step at a time</a:t>
            </a:r>
          </a:p>
          <a:p>
            <a:pPr lvl="1"/>
            <a:r>
              <a:rPr lang="en-US" dirty="0"/>
              <a:t>And Visualizing how computer works </a:t>
            </a:r>
          </a:p>
          <a:p>
            <a:r>
              <a:rPr lang="en-US" dirty="0"/>
              <a:t>Independence of technology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5A585-6BDC-2F90-FDFB-576C1BD13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9F2AC-BAA4-8E3C-F53E-3B1841717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790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2AB61-0C20-0AB8-9C28-4081B5888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C/C++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936B7-D214-C553-58C8-5B016263E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Foundational understanding</a:t>
            </a:r>
          </a:p>
          <a:p>
            <a:pPr lvl="1"/>
            <a:r>
              <a:rPr lang="en-US" dirty="0"/>
              <a:t>Understand Computer Science</a:t>
            </a:r>
          </a:p>
          <a:p>
            <a:r>
              <a:rPr lang="en-US" dirty="0"/>
              <a:t>Speed and control </a:t>
            </a:r>
          </a:p>
          <a:p>
            <a:pPr lvl="1"/>
            <a:r>
              <a:rPr lang="en-US" dirty="0"/>
              <a:t>Fastest programming language</a:t>
            </a:r>
          </a:p>
          <a:p>
            <a:r>
              <a:rPr lang="en-US" dirty="0"/>
              <a:t>Really small programming language</a:t>
            </a:r>
          </a:p>
          <a:p>
            <a:pPr lvl="1"/>
            <a:r>
              <a:rPr lang="en-US" dirty="0"/>
              <a:t>C has 32 keywords </a:t>
            </a:r>
          </a:p>
          <a:p>
            <a:pPr lvl="1"/>
            <a:r>
              <a:rPr lang="en-US" dirty="0"/>
              <a:t>C++ has 92 keywords as of 2023</a:t>
            </a:r>
          </a:p>
          <a:p>
            <a:r>
              <a:rPr lang="en-US" dirty="0"/>
              <a:t>Makes you digital native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F7425-4B4C-77D3-EB54-25D41D294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285C1-A054-741B-5975-35BF62721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295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A11C1-5D2B-590C-B05F-6D0BC70E5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NOT C/C++?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493F0-80F8-CBC0-5F73-B5BE5A6AC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Slower manual speed of writing code</a:t>
            </a:r>
          </a:p>
          <a:p>
            <a:r>
              <a:rPr lang="en-US" dirty="0"/>
              <a:t>Don’t care about speed </a:t>
            </a:r>
          </a:p>
          <a:p>
            <a:r>
              <a:rPr lang="en-US" dirty="0"/>
              <a:t>Don’t care about deep Computer Science</a:t>
            </a:r>
          </a:p>
          <a:p>
            <a:pPr lvl="1"/>
            <a:r>
              <a:rPr lang="en-US" dirty="0"/>
              <a:t>Although this may not be achievable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4A38F-C1D7-41C3-73B9-5F99DA01E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1DC80-3317-1C0C-ED40-45192ECCB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413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33EE9-E7E4-F22E-07DA-DAEEC1462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: Smallest unit of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E8418-9FB9-E118-B1EF-5C1B6C0B9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Bits are used for representing everything </a:t>
            </a:r>
          </a:p>
          <a:p>
            <a:r>
              <a:rPr lang="en-US" dirty="0"/>
              <a:t>Have 2 states : 0 and 1 , like a  bulb </a:t>
            </a:r>
          </a:p>
          <a:p>
            <a:pPr lvl="1"/>
            <a:r>
              <a:rPr lang="en-US" dirty="0"/>
              <a:t>On : 1 </a:t>
            </a:r>
          </a:p>
          <a:p>
            <a:pPr lvl="1"/>
            <a:r>
              <a:rPr lang="en-US" dirty="0"/>
              <a:t>Off : 0 </a:t>
            </a:r>
          </a:p>
          <a:p>
            <a:r>
              <a:rPr lang="en-US" dirty="0"/>
              <a:t>Nibble : 4 bits </a:t>
            </a:r>
          </a:p>
          <a:p>
            <a:r>
              <a:rPr lang="en-US" dirty="0"/>
              <a:t>Byte : 8 bits</a:t>
            </a:r>
          </a:p>
          <a:p>
            <a:r>
              <a:rPr lang="en-US" dirty="0"/>
              <a:t>int (integer ) 4 bytes </a:t>
            </a:r>
          </a:p>
          <a:p>
            <a:r>
              <a:rPr lang="en-US" dirty="0"/>
              <a:t>char (character ) 1 byte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06F2D-F989-7055-43A2-A44CA0924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E5499-DA5F-5BF1-2EEA-031D37DA5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44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E1006-1E66-D572-C8B8-2AE12615F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Hertz : Unit of time and speed in Computers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212BE-FC3E-7C13-029D-C6A594BB3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 Hertz : once per second</a:t>
            </a:r>
          </a:p>
          <a:p>
            <a:pPr lvl="1"/>
            <a:r>
              <a:rPr lang="en-US" dirty="0"/>
              <a:t>1 unit of work per clock instruction</a:t>
            </a:r>
          </a:p>
          <a:p>
            <a:r>
              <a:rPr lang="en-US" dirty="0"/>
              <a:t>Modern processors </a:t>
            </a:r>
          </a:p>
          <a:p>
            <a:pPr lvl="1"/>
            <a:r>
              <a:rPr lang="en-US" dirty="0"/>
              <a:t>Measured in Giga hertz </a:t>
            </a:r>
          </a:p>
          <a:p>
            <a:pPr lvl="1"/>
            <a:r>
              <a:rPr lang="en-US" dirty="0"/>
              <a:t>High Core Counts</a:t>
            </a:r>
          </a:p>
          <a:p>
            <a:pPr lvl="1"/>
            <a:r>
              <a:rPr lang="en-US" dirty="0"/>
              <a:t>More instructions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6B1EE-E0A9-69D0-7A80-C7F98B0E0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82396-5AEF-FB20-A842-96188B568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917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3AA6B-ADF6-FAE9-8B4D-9D7CBE037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World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4CA3C-B38C-F422-3B25-9EBEB6556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Let’s go , </a:t>
            </a:r>
          </a:p>
          <a:p>
            <a:r>
              <a:rPr lang="en-US" dirty="0"/>
              <a:t>Program to print “Hello World”</a:t>
            </a:r>
          </a:p>
          <a:p>
            <a:pPr marL="0" indent="0">
              <a:buNone/>
            </a:pPr>
            <a:r>
              <a:rPr lang="en-US" dirty="0"/>
              <a:t>-----</a:t>
            </a:r>
          </a:p>
          <a:p>
            <a:pPr marL="0" indent="0">
              <a:buNone/>
            </a:pPr>
            <a:r>
              <a:rPr lang="en-US" dirty="0"/>
              <a:t>#include &lt;iostream&gt;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using namespace std;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int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dirty="0" err="1"/>
              <a:t>cout</a:t>
            </a:r>
            <a:r>
              <a:rPr lang="en-US" dirty="0"/>
              <a:t> &lt;&lt; “Hello World”;</a:t>
            </a:r>
            <a:br>
              <a:rPr lang="en-US" dirty="0"/>
            </a:br>
            <a:r>
              <a:rPr lang="en-US" dirty="0"/>
              <a:t>     return 0;</a:t>
            </a:r>
          </a:p>
          <a:p>
            <a:pPr marL="0" indent="0">
              <a:buNone/>
            </a:pPr>
            <a:r>
              <a:rPr lang="en-US" dirty="0"/>
              <a:t>}</a:t>
            </a:r>
            <a:br>
              <a:rPr lang="en-US" dirty="0"/>
            </a:b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5E504-A1D2-41B7-8834-6C7AED7DA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48307B-D1E5-0054-D22C-490CE24FD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338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0B084-6093-E1C2-4946-E73591C82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 a diamond pattern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76C24-9E44-A5AA-0D01-E2D5BC6FA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*</a:t>
            </a:r>
          </a:p>
          <a:p>
            <a:pPr marL="0" indent="0">
              <a:buNone/>
            </a:pPr>
            <a:r>
              <a:rPr lang="en-US" dirty="0"/>
              <a:t>    ***</a:t>
            </a:r>
          </a:p>
          <a:p>
            <a:pPr marL="0" indent="0">
              <a:buNone/>
            </a:pPr>
            <a:r>
              <a:rPr lang="en-US" dirty="0"/>
              <a:t>  *****</a:t>
            </a:r>
          </a:p>
          <a:p>
            <a:pPr marL="0" indent="0">
              <a:buNone/>
            </a:pPr>
            <a:r>
              <a:rPr lang="en-US" dirty="0"/>
              <a:t>    ***</a:t>
            </a:r>
          </a:p>
          <a:p>
            <a:pPr marL="0" indent="0">
              <a:buNone/>
            </a:pPr>
            <a:r>
              <a:rPr lang="en-US" dirty="0"/>
              <a:t>      *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A2B45-0087-CF15-EE27-CD8B97F49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461A6-DE5F-D70D-FF1D-79B87407C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030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2E4CF-ED8F-4B31-A06F-E70D0CA07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the program : model</a:t>
            </a:r>
          </a:p>
        </p:txBody>
      </p:sp>
      <p:pic>
        <p:nvPicPr>
          <p:cNvPr id="5" name="Content Placeholder 4" descr="Simplified Computer Memory Model">
            <a:extLst>
              <a:ext uri="{FF2B5EF4-FFF2-40B4-BE49-F238E27FC236}">
                <a16:creationId xmlns:a16="http://schemas.microsoft.com/office/drawing/2014/main" id="{AAE77077-5607-4BC2-9EFF-D85B09A809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700" y="1808847"/>
            <a:ext cx="7289248" cy="435133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66B2DA-A8A3-214C-5169-DE43F8D10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BC49CC-CDDF-991D-0ED5-6A95C23AB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507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69B34-94A0-D27F-8733-DA77A6B52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  <a:r>
              <a:rPr lang="en-US" sz="2400" dirty="0"/>
              <a:t>(Primitive/built 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3458A-D3D8-420A-F16D-95BFB8365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bool</a:t>
            </a:r>
          </a:p>
          <a:p>
            <a:r>
              <a:rPr lang="en-US" dirty="0"/>
              <a:t>int </a:t>
            </a:r>
          </a:p>
          <a:p>
            <a:pPr lvl="1"/>
            <a:r>
              <a:rPr lang="en-US" dirty="0"/>
              <a:t>short(2), long(4)</a:t>
            </a:r>
          </a:p>
          <a:p>
            <a:pPr lvl="1"/>
            <a:r>
              <a:rPr lang="en-US" dirty="0" err="1"/>
              <a:t>signed,unsigned</a:t>
            </a:r>
            <a:endParaRPr lang="en-US" dirty="0"/>
          </a:p>
          <a:p>
            <a:r>
              <a:rPr lang="en-US" dirty="0"/>
              <a:t>float </a:t>
            </a:r>
          </a:p>
          <a:p>
            <a:pPr lvl="1"/>
            <a:r>
              <a:rPr lang="en-US" dirty="0"/>
              <a:t>float(4), double(8) , long double(8,10,16)</a:t>
            </a:r>
          </a:p>
          <a:p>
            <a:r>
              <a:rPr lang="en-US" dirty="0"/>
              <a:t>char(1)</a:t>
            </a:r>
          </a:p>
          <a:p>
            <a:pPr lvl="1"/>
            <a:r>
              <a:rPr lang="en-US" dirty="0" err="1"/>
              <a:t>signed,unsigned</a:t>
            </a:r>
            <a:endParaRPr lang="en-US" dirty="0"/>
          </a:p>
          <a:p>
            <a:pPr lvl="1"/>
            <a:r>
              <a:rPr lang="en-US" dirty="0" err="1"/>
              <a:t>wchar_t</a:t>
            </a:r>
            <a:r>
              <a:rPr lang="en-US" dirty="0"/>
              <a:t>(2)</a:t>
            </a:r>
          </a:p>
          <a:p>
            <a:r>
              <a:rPr lang="en-US" dirty="0"/>
              <a:t>void 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4BBFE-B686-23F7-3D90-BC4B07807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C3F6A-0043-7757-E23A-2CB1DEDA6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06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1D20D-D9ED-3873-D9B8-EDFDD80C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A99D0-122F-AF56-6BF9-845F1461C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Containers for storing data</a:t>
            </a:r>
          </a:p>
          <a:p>
            <a:r>
              <a:rPr lang="en-US" dirty="0"/>
              <a:t>Value can change during execution (unless you don’t want it to)</a:t>
            </a:r>
          </a:p>
          <a:p>
            <a:r>
              <a:rPr lang="en-US" dirty="0"/>
              <a:t>Declaration</a:t>
            </a:r>
          </a:p>
          <a:p>
            <a:pPr lvl="1"/>
            <a:r>
              <a:rPr lang="en-US" dirty="0"/>
              <a:t>int  birthyear;</a:t>
            </a:r>
          </a:p>
          <a:p>
            <a:pPr lvl="1"/>
            <a:r>
              <a:rPr lang="en-US" dirty="0"/>
              <a:t>float weight;</a:t>
            </a:r>
          </a:p>
          <a:p>
            <a:pPr lvl="1"/>
            <a:r>
              <a:rPr lang="en-US" dirty="0"/>
              <a:t>char </a:t>
            </a:r>
            <a:r>
              <a:rPr lang="en-US" dirty="0" err="1"/>
              <a:t>courseGrade</a:t>
            </a:r>
            <a:r>
              <a:rPr lang="en-US" dirty="0"/>
              <a:t>;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EC462-67C7-04B5-DFCD-FA0C294B2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C1721-D56D-E686-FB01-D55BDA6DA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718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7FD9A-0257-3470-B4F9-F64A26C27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 </a:t>
            </a:r>
            <a:r>
              <a:rPr lang="en-US" sz="2400" dirty="0"/>
              <a:t>(Derived)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00FA7-51F9-F103-0E56-19FECE2EF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  <a:p>
            <a:pPr lvl="1"/>
            <a:r>
              <a:rPr lang="en-US" dirty="0"/>
              <a:t>char name[100];</a:t>
            </a:r>
          </a:p>
          <a:p>
            <a:pPr lvl="2"/>
            <a:r>
              <a:rPr lang="en-US" dirty="0"/>
              <a:t>Size 100</a:t>
            </a:r>
          </a:p>
          <a:p>
            <a:pPr lvl="2"/>
            <a:r>
              <a:rPr lang="en-US" dirty="0"/>
              <a:t>Index : 0 - 99</a:t>
            </a:r>
          </a:p>
          <a:p>
            <a:pPr lvl="1"/>
            <a:r>
              <a:rPr lang="en-US" dirty="0"/>
              <a:t>int  age[10];</a:t>
            </a:r>
          </a:p>
          <a:p>
            <a:pPr lvl="2"/>
            <a:r>
              <a:rPr lang="en-US" dirty="0"/>
              <a:t>Size 10</a:t>
            </a:r>
          </a:p>
          <a:p>
            <a:pPr lvl="2"/>
            <a:r>
              <a:rPr lang="en-US" dirty="0"/>
              <a:t>Index : 0 - 9</a:t>
            </a:r>
          </a:p>
          <a:p>
            <a:pPr lvl="1"/>
            <a:r>
              <a:rPr lang="en-US" dirty="0"/>
              <a:t>float power[20]</a:t>
            </a:r>
          </a:p>
          <a:p>
            <a:pPr lvl="2"/>
            <a:r>
              <a:rPr lang="en-US" dirty="0"/>
              <a:t>Size 20</a:t>
            </a:r>
          </a:p>
          <a:p>
            <a:pPr lvl="2"/>
            <a:r>
              <a:rPr lang="en-US" dirty="0"/>
              <a:t>Index : 0 - 19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1999D-AF9C-A43D-51EB-598EADBE1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932ED-F971-B54C-3771-D20402204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484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BFB85-8DA5-613B-1EC0-0AD435C6C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Integer vs floating math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B2C52-0717-B1EF-0AA2-7B33A9825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Division </a:t>
            </a:r>
          </a:p>
          <a:p>
            <a:pPr lvl="1"/>
            <a:r>
              <a:rPr lang="en-US" dirty="0"/>
              <a:t>Float :</a:t>
            </a:r>
            <a:r>
              <a:rPr lang="en-US" dirty="0" err="1"/>
              <a:t>continuos</a:t>
            </a:r>
            <a:r>
              <a:rPr lang="en-US" dirty="0"/>
              <a:t>,  contains decimal point </a:t>
            </a:r>
          </a:p>
          <a:p>
            <a:pPr lvl="1"/>
            <a:r>
              <a:rPr lang="en-US" dirty="0"/>
              <a:t>Int : discrete , truncates everything after decimal , </a:t>
            </a:r>
          </a:p>
          <a:p>
            <a:r>
              <a:rPr lang="en-US" dirty="0"/>
              <a:t>float f = 10;</a:t>
            </a:r>
          </a:p>
          <a:p>
            <a:pPr lvl="1"/>
            <a:r>
              <a:rPr lang="en-US" dirty="0" err="1"/>
              <a:t>cout</a:t>
            </a:r>
            <a:r>
              <a:rPr lang="en-US" dirty="0"/>
              <a:t> &lt;&lt; f/3;</a:t>
            </a:r>
          </a:p>
          <a:p>
            <a:pPr lvl="1"/>
            <a:r>
              <a:rPr lang="en-US" dirty="0"/>
              <a:t>3.33 </a:t>
            </a:r>
          </a:p>
          <a:p>
            <a:r>
              <a:rPr lang="en-US" dirty="0"/>
              <a:t>int </a:t>
            </a:r>
            <a:r>
              <a:rPr lang="en-US" dirty="0" err="1"/>
              <a:t>i</a:t>
            </a:r>
            <a:r>
              <a:rPr lang="en-US" dirty="0"/>
              <a:t> = 10;</a:t>
            </a:r>
          </a:p>
          <a:p>
            <a:pPr lvl="1"/>
            <a:r>
              <a:rPr lang="en-US" dirty="0" err="1"/>
              <a:t>cout</a:t>
            </a:r>
            <a:r>
              <a:rPr lang="en-US" dirty="0"/>
              <a:t>&lt;&lt; </a:t>
            </a:r>
            <a:r>
              <a:rPr lang="en-US" dirty="0" err="1"/>
              <a:t>i</a:t>
            </a:r>
            <a:r>
              <a:rPr lang="en-US" dirty="0"/>
              <a:t>/3;</a:t>
            </a:r>
          </a:p>
          <a:p>
            <a:pPr lvl="1"/>
            <a:r>
              <a:rPr lang="en-US" dirty="0"/>
              <a:t>3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87523-90A2-16CA-BA2C-6DEA3C1FC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34221-7B67-FEE1-231D-55394D996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26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6402F41-0227-4486-8253-79486943B5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0535764"/>
              </p:ext>
            </p:extLst>
          </p:nvPr>
        </p:nvGraphicFramePr>
        <p:xfrm>
          <a:off x="520117" y="213918"/>
          <a:ext cx="10976994" cy="6537578"/>
        </p:xfrm>
        <a:graphic>
          <a:graphicData uri="http://schemas.openxmlformats.org/drawingml/2006/table">
            <a:tbl>
              <a:tblPr firstRow="1"/>
              <a:tblGrid>
                <a:gridCol w="2051109">
                  <a:extLst>
                    <a:ext uri="{9D8B030D-6E8A-4147-A177-3AD203B41FA5}">
                      <a16:colId xmlns:a16="http://schemas.microsoft.com/office/drawing/2014/main" val="1297895393"/>
                    </a:ext>
                  </a:extLst>
                </a:gridCol>
                <a:gridCol w="1254154">
                  <a:extLst>
                    <a:ext uri="{9D8B030D-6E8A-4147-A177-3AD203B41FA5}">
                      <a16:colId xmlns:a16="http://schemas.microsoft.com/office/drawing/2014/main" val="3549294480"/>
                    </a:ext>
                  </a:extLst>
                </a:gridCol>
                <a:gridCol w="2390862">
                  <a:extLst>
                    <a:ext uri="{9D8B030D-6E8A-4147-A177-3AD203B41FA5}">
                      <a16:colId xmlns:a16="http://schemas.microsoft.com/office/drawing/2014/main" val="3446372693"/>
                    </a:ext>
                  </a:extLst>
                </a:gridCol>
                <a:gridCol w="5280869">
                  <a:extLst>
                    <a:ext uri="{9D8B030D-6E8A-4147-A177-3AD203B41FA5}">
                      <a16:colId xmlns:a16="http://schemas.microsoft.com/office/drawing/2014/main" val="270957303"/>
                    </a:ext>
                  </a:extLst>
                </a:gridCol>
              </a:tblGrid>
              <a:tr h="197991">
                <a:tc>
                  <a:txBody>
                    <a:bodyPr/>
                    <a:lstStyle/>
                    <a:p>
                      <a:r>
                        <a:rPr lang="en-US" sz="1600" b="1" i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For  reference ….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no need to 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memorize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4735406"/>
                  </a:ext>
                </a:extLst>
              </a:tr>
              <a:tr h="197991">
                <a:tc>
                  <a:txBody>
                    <a:bodyPr/>
                    <a:lstStyle/>
                    <a:p>
                      <a:r>
                        <a:rPr lang="en-US" sz="1600" b="1" dirty="0"/>
                        <a:t>Type Name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Bytes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Other Names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Range of Values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4431212"/>
                  </a:ext>
                </a:extLst>
              </a:tr>
              <a:tr h="364846">
                <a:tc>
                  <a:txBody>
                    <a:bodyPr/>
                    <a:lstStyle/>
                    <a:p>
                      <a:r>
                        <a:rPr lang="en-US" sz="1800" b="0" dirty="0"/>
                        <a:t>int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4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/>
                        <a:t>signed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-2,147,483,648 to 2,147,483,647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6284030"/>
                  </a:ext>
                </a:extLst>
              </a:tr>
              <a:tr h="197991">
                <a:tc>
                  <a:txBody>
                    <a:bodyPr/>
                    <a:lstStyle/>
                    <a:p>
                      <a:r>
                        <a:rPr lang="en-US" sz="1800" b="0" dirty="0"/>
                        <a:t>unsigned int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/>
                        <a:t>4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/>
                        <a:t>unsigned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/>
                        <a:t>0 to 4,294,967,295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488240"/>
                  </a:ext>
                </a:extLst>
              </a:tr>
              <a:tr h="197991">
                <a:tc>
                  <a:txBody>
                    <a:bodyPr/>
                    <a:lstStyle/>
                    <a:p>
                      <a:r>
                        <a:rPr lang="en-US" sz="1800" b="0" dirty="0"/>
                        <a:t>bool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/>
                        <a:t>1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/>
                        <a:t>none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false or true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872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0" dirty="0"/>
                        <a:t>char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1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none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-128 to 127 by default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284308"/>
                  </a:ext>
                </a:extLst>
              </a:tr>
              <a:tr h="197991">
                <a:tc>
                  <a:txBody>
                    <a:bodyPr/>
                    <a:lstStyle/>
                    <a:p>
                      <a:r>
                        <a:rPr lang="en-US" sz="1800" b="0"/>
                        <a:t>signed char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1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/>
                        <a:t>none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-128 to 127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003666"/>
                  </a:ext>
                </a:extLst>
              </a:tr>
              <a:tr h="197991">
                <a:tc>
                  <a:txBody>
                    <a:bodyPr/>
                    <a:lstStyle/>
                    <a:p>
                      <a:r>
                        <a:rPr lang="en-US" sz="1800" b="0"/>
                        <a:t>unsigned char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1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/>
                        <a:t>none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0 to 255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417455"/>
                  </a:ext>
                </a:extLst>
              </a:tr>
              <a:tr h="364846">
                <a:tc>
                  <a:txBody>
                    <a:bodyPr/>
                    <a:lstStyle/>
                    <a:p>
                      <a:r>
                        <a:rPr lang="en-US" sz="1800" b="0"/>
                        <a:t>short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/>
                        <a:t>2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short int, signed short int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-32,768 to 32,767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763836"/>
                  </a:ext>
                </a:extLst>
              </a:tr>
              <a:tr h="197991">
                <a:tc>
                  <a:txBody>
                    <a:bodyPr/>
                    <a:lstStyle/>
                    <a:p>
                      <a:r>
                        <a:rPr lang="en-US" sz="1800" b="0"/>
                        <a:t>unsigned short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/>
                        <a:t>2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/>
                        <a:t>unsigned short int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0 to 65,535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368934"/>
                  </a:ext>
                </a:extLst>
              </a:tr>
              <a:tr h="364846">
                <a:tc>
                  <a:txBody>
                    <a:bodyPr/>
                    <a:lstStyle/>
                    <a:p>
                      <a:r>
                        <a:rPr lang="en-US" sz="1800" b="0"/>
                        <a:t>long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4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long int, signed long int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-2,147,483,648 to 2,147,483,647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490519"/>
                  </a:ext>
                </a:extLst>
              </a:tr>
              <a:tr h="197991">
                <a:tc>
                  <a:txBody>
                    <a:bodyPr/>
                    <a:lstStyle/>
                    <a:p>
                      <a:r>
                        <a:rPr lang="en-US" sz="1800" b="0"/>
                        <a:t>unsigned long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/>
                        <a:t>4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/>
                        <a:t>unsigned long int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0 to 4,294,967,295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4786278"/>
                  </a:ext>
                </a:extLst>
              </a:tr>
              <a:tr h="408955">
                <a:tc>
                  <a:txBody>
                    <a:bodyPr/>
                    <a:lstStyle/>
                    <a:p>
                      <a:r>
                        <a:rPr lang="en-US" sz="1800" b="0"/>
                        <a:t>long long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/>
                        <a:t>8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None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-9,223,372,036,854,775,808 to 9,223,372,036,854,775,807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7393372"/>
                  </a:ext>
                </a:extLst>
              </a:tr>
              <a:tr h="391690">
                <a:tc>
                  <a:txBody>
                    <a:bodyPr/>
                    <a:lstStyle/>
                    <a:p>
                      <a:r>
                        <a:rPr lang="en-US" sz="1800" b="0" dirty="0"/>
                        <a:t>unsigned long </a:t>
                      </a:r>
                      <a:r>
                        <a:rPr lang="en-US" sz="1800" b="0" dirty="0" err="1"/>
                        <a:t>long</a:t>
                      </a:r>
                      <a:endParaRPr lang="en-US" sz="1800" b="0" dirty="0"/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/>
                        <a:t>8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none 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0 to 18,446,744,073,709,551,615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0406296"/>
                  </a:ext>
                </a:extLst>
              </a:tr>
              <a:tr h="197991">
                <a:tc>
                  <a:txBody>
                    <a:bodyPr/>
                    <a:lstStyle/>
                    <a:p>
                      <a:r>
                        <a:rPr lang="en-US" sz="1800" b="0"/>
                        <a:t>enum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/>
                        <a:t>varies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None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dirty="0"/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841504"/>
                  </a:ext>
                </a:extLst>
              </a:tr>
              <a:tr h="364846">
                <a:tc>
                  <a:txBody>
                    <a:bodyPr/>
                    <a:lstStyle/>
                    <a:p>
                      <a:r>
                        <a:rPr lang="en-US" sz="1800" b="0"/>
                        <a:t>float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/>
                        <a:t>4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None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3.4E +/- 38 (seven digits)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621997"/>
                  </a:ext>
                </a:extLst>
              </a:tr>
              <a:tr h="364846">
                <a:tc>
                  <a:txBody>
                    <a:bodyPr/>
                    <a:lstStyle/>
                    <a:p>
                      <a:r>
                        <a:rPr lang="en-US" sz="1800" b="0"/>
                        <a:t>double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/>
                        <a:t>8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None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1.7E +/- 308 (fifteen digits)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139771"/>
                  </a:ext>
                </a:extLst>
              </a:tr>
              <a:tr h="197991">
                <a:tc>
                  <a:txBody>
                    <a:bodyPr/>
                    <a:lstStyle/>
                    <a:p>
                      <a:r>
                        <a:rPr lang="en-US" sz="1800" b="0"/>
                        <a:t>long double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8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None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Same as double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090442"/>
                  </a:ext>
                </a:extLst>
              </a:tr>
              <a:tr h="197991">
                <a:tc>
                  <a:txBody>
                    <a:bodyPr/>
                    <a:lstStyle/>
                    <a:p>
                      <a:r>
                        <a:rPr lang="en-US" sz="1800" b="0"/>
                        <a:t>wchar_t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/>
                        <a:t>2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dirty="0"/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0 to 65,535</a:t>
                      </a:r>
                    </a:p>
                  </a:txBody>
                  <a:tcPr marL="25596" marR="25596" marT="12798" marB="12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1383769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426879-2AA7-FAA7-0DCA-DFD84FA6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11E124-D5C3-4EEE-9E95-96448A74E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793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9C7BE-BBB2-66B7-93A9-2D8272767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Defined Data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65131-B1EE-8CCF-C2B7-29E3CFA05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Enum</a:t>
            </a:r>
          </a:p>
          <a:p>
            <a:pPr lvl="1"/>
            <a:r>
              <a:rPr lang="en-US" dirty="0"/>
              <a:t>Short for enumeration</a:t>
            </a:r>
          </a:p>
          <a:p>
            <a:pPr lvl="1"/>
            <a:r>
              <a:rPr lang="en-US" dirty="0"/>
              <a:t>Define a set of named, integer constants</a:t>
            </a:r>
          </a:p>
          <a:p>
            <a:pPr marL="0" indent="0">
              <a:buNone/>
            </a:pPr>
            <a:r>
              <a:rPr lang="en-US" sz="2000" dirty="0" err="1"/>
              <a:t>enum</a:t>
            </a:r>
            <a:r>
              <a:rPr lang="en-US" sz="2000" dirty="0"/>
              <a:t> </a:t>
            </a:r>
            <a:r>
              <a:rPr lang="en-US" sz="2000" dirty="0" err="1"/>
              <a:t>ESpeed</a:t>
            </a:r>
            <a:br>
              <a:rPr lang="en-US" sz="2000" dirty="0"/>
            </a:br>
            <a:r>
              <a:rPr lang="en-US" sz="2000" dirty="0"/>
              <a:t>{</a:t>
            </a:r>
            <a:br>
              <a:rPr lang="en-US" sz="2000" dirty="0"/>
            </a:br>
            <a:r>
              <a:rPr lang="en-US" sz="2000" dirty="0"/>
              <a:t>    low,</a:t>
            </a:r>
            <a:br>
              <a:rPr lang="en-US" sz="2000" dirty="0"/>
            </a:br>
            <a:r>
              <a:rPr lang="en-US" sz="2000" dirty="0"/>
              <a:t>    medium,</a:t>
            </a:r>
            <a:br>
              <a:rPr lang="en-US" sz="2000" dirty="0"/>
            </a:br>
            <a:r>
              <a:rPr lang="en-US" sz="2000" dirty="0"/>
              <a:t>    high</a:t>
            </a:r>
            <a:br>
              <a:rPr lang="en-US" sz="2000" dirty="0"/>
            </a:br>
            <a:r>
              <a:rPr lang="en-US" sz="2000" dirty="0"/>
              <a:t>};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 err="1"/>
              <a:t>ESpeed</a:t>
            </a:r>
            <a:r>
              <a:rPr lang="en-US" sz="2000" dirty="0"/>
              <a:t> </a:t>
            </a:r>
            <a:r>
              <a:rPr lang="en-US" sz="2000" dirty="0" err="1"/>
              <a:t>fanSpeed</a:t>
            </a:r>
            <a:r>
              <a:rPr lang="en-US" sz="2000" dirty="0"/>
              <a:t>;</a:t>
            </a:r>
            <a:br>
              <a:rPr lang="en-US" sz="2000" dirty="0"/>
            </a:br>
            <a:r>
              <a:rPr lang="en-US" sz="2000" dirty="0" err="1"/>
              <a:t>fanSpeed</a:t>
            </a:r>
            <a:r>
              <a:rPr lang="en-US" sz="2000" dirty="0"/>
              <a:t> = low;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6C5BE-0FB7-69DE-FFC0-020D439E7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030814-CC1A-7770-E354-A2A271A7E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401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79393-9D40-3375-3C34-A1BE8AF69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: Greeting with name/age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76405-91EF-D14A-BECC-0A1E1DA6C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user </a:t>
            </a:r>
          </a:p>
          <a:p>
            <a:pPr lvl="1"/>
            <a:r>
              <a:rPr lang="en-US" dirty="0"/>
              <a:t>Store name in char array ( char name[100] )</a:t>
            </a:r>
          </a:p>
          <a:p>
            <a:pPr lvl="1"/>
            <a:r>
              <a:rPr lang="en-US" dirty="0"/>
              <a:t>Store year of birth in int( int birthyear)</a:t>
            </a:r>
          </a:p>
          <a:p>
            <a:r>
              <a:rPr lang="en-US" dirty="0"/>
              <a:t>Calculate age</a:t>
            </a:r>
          </a:p>
          <a:p>
            <a:pPr lvl="1"/>
            <a:r>
              <a:rPr lang="en-US" dirty="0"/>
              <a:t>age = </a:t>
            </a:r>
            <a:r>
              <a:rPr lang="en-US" dirty="0" err="1"/>
              <a:t>currentYear</a:t>
            </a:r>
            <a:r>
              <a:rPr lang="en-US" dirty="0"/>
              <a:t> – birthyear;</a:t>
            </a:r>
          </a:p>
          <a:p>
            <a:r>
              <a:rPr lang="en-US" dirty="0"/>
              <a:t>Print Name, age.</a:t>
            </a:r>
          </a:p>
          <a:p>
            <a:pPr lvl="1"/>
            <a:r>
              <a:rPr lang="en-US" dirty="0" err="1"/>
              <a:t>cout</a:t>
            </a:r>
            <a:r>
              <a:rPr lang="en-US" dirty="0"/>
              <a:t> &lt;&lt;“Hello “</a:t>
            </a:r>
          </a:p>
          <a:p>
            <a:pPr marL="457200" lvl="1" indent="0">
              <a:buNone/>
            </a:pPr>
            <a:r>
              <a:rPr lang="en-US" dirty="0"/>
              <a:t>               &lt;&lt; name</a:t>
            </a:r>
            <a:br>
              <a:rPr lang="en-US" dirty="0"/>
            </a:br>
            <a:r>
              <a:rPr lang="en-US" dirty="0"/>
              <a:t>               &lt;&lt;“ I know your age is :“</a:t>
            </a:r>
            <a:br>
              <a:rPr lang="en-US" dirty="0"/>
            </a:br>
            <a:r>
              <a:rPr lang="en-US" dirty="0"/>
              <a:t>               &lt;&lt;age;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350AF-09B5-77BD-D0F5-F13394446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A4E4D-37F3-80A8-B6B9-4EA870EAF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140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68A35-12AE-62D8-2A6E-936C59281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: Count digits in a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3E45E-184E-A6B8-ECBE-6617D8722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a number </a:t>
            </a:r>
          </a:p>
          <a:p>
            <a:r>
              <a:rPr lang="en-US" dirty="0"/>
              <a:t>Return the number of digits, (assume positive)</a:t>
            </a:r>
          </a:p>
          <a:p>
            <a:pPr lvl="1"/>
            <a:r>
              <a:rPr lang="en-US" dirty="0"/>
              <a:t>129 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3</a:t>
            </a:r>
          </a:p>
          <a:p>
            <a:pPr lvl="1"/>
            <a:r>
              <a:rPr lang="en-US" dirty="0"/>
              <a:t>34     </a:t>
            </a:r>
            <a:r>
              <a:rPr lang="en-US" dirty="0">
                <a:sym typeface="Wingdings" panose="05000000000000000000" pitchFamily="2" charset="2"/>
              </a:rPr>
              <a:t> 2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0         1</a:t>
            </a:r>
          </a:p>
          <a:p>
            <a:r>
              <a:rPr lang="en-US" dirty="0">
                <a:sym typeface="Wingdings" panose="05000000000000000000" pitchFamily="2" charset="2"/>
              </a:rPr>
              <a:t>Hints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You need to know loops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while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You need to know integer </a:t>
            </a:r>
            <a:r>
              <a:rPr lang="en-US" dirty="0" err="1">
                <a:sym typeface="Wingdings" panose="05000000000000000000" pitchFamily="2" charset="2"/>
              </a:rPr>
              <a:t>maths</a:t>
            </a:r>
            <a:r>
              <a:rPr lang="en-US" dirty="0">
                <a:sym typeface="Wingdings" panose="05000000000000000000" pitchFamily="2" charset="2"/>
              </a:rPr>
              <a:t> 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division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3F6B7-ED44-D03D-A20C-C0D76A56C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28C7A6-9E56-3256-788D-FBE686C55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2405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1AC0A-B54E-AD2E-E940-0B0F128BE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, Output and Processing for Humans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EABAD-57C8-5AA9-B61C-AB1BFC0EA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Speech </a:t>
            </a:r>
          </a:p>
          <a:p>
            <a:pPr lvl="1"/>
            <a:r>
              <a:rPr lang="en-US" dirty="0"/>
              <a:t>Process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Speak  </a:t>
            </a:r>
            <a:r>
              <a:rPr lang="en-US" dirty="0">
                <a:sym typeface="Wingdings" panose="05000000000000000000" pitchFamily="2" charset="2"/>
              </a:rPr>
              <a:t>L</a:t>
            </a:r>
            <a:r>
              <a:rPr lang="en-US" dirty="0"/>
              <a:t>isten</a:t>
            </a:r>
          </a:p>
          <a:p>
            <a:r>
              <a:rPr lang="en-US" dirty="0"/>
              <a:t>Book</a:t>
            </a:r>
          </a:p>
          <a:p>
            <a:pPr lvl="1"/>
            <a:r>
              <a:rPr lang="en-US" dirty="0"/>
              <a:t>Read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Process </a:t>
            </a:r>
            <a:r>
              <a:rPr lang="en-US" dirty="0">
                <a:sym typeface="Wingdings" panose="05000000000000000000" pitchFamily="2" charset="2"/>
              </a:rPr>
              <a:t> Memorize</a:t>
            </a:r>
            <a:endParaRPr lang="en-US" dirty="0"/>
          </a:p>
          <a:p>
            <a:r>
              <a:rPr lang="en-US" dirty="0"/>
              <a:t>Conversation </a:t>
            </a:r>
          </a:p>
          <a:p>
            <a:pPr lvl="1"/>
            <a:r>
              <a:rPr lang="en-US" dirty="0"/>
              <a:t>Listen </a:t>
            </a:r>
            <a:r>
              <a:rPr lang="en-US" dirty="0">
                <a:sym typeface="Wingdings" panose="05000000000000000000" pitchFamily="2" charset="2"/>
              </a:rPr>
              <a:t> Speak Listen Speak ….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83DE3-0D9A-C177-82DC-2D37F3AC2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FA6500-1243-0208-BE9B-0BE36A822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3796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1CB75-5CD6-20EF-7219-A6065D9FA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and processing for Computers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99BA1-8B22-2B6E-6711-B96BA4087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Video games </a:t>
            </a:r>
          </a:p>
          <a:p>
            <a:pPr lvl="1"/>
            <a:r>
              <a:rPr lang="en-US" dirty="0"/>
              <a:t>Input (controllers)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Process 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Output (Screen)</a:t>
            </a:r>
          </a:p>
          <a:p>
            <a:r>
              <a:rPr lang="en-US" dirty="0"/>
              <a:t>Movies </a:t>
            </a:r>
          </a:p>
          <a:p>
            <a:pPr lvl="1"/>
            <a:r>
              <a:rPr lang="en-US" dirty="0"/>
              <a:t>Input (network) </a:t>
            </a:r>
            <a:r>
              <a:rPr lang="en-US" dirty="0">
                <a:sym typeface="Wingdings" panose="05000000000000000000" pitchFamily="2" charset="2"/>
              </a:rPr>
              <a:t>Process  Output (visuals, audio)</a:t>
            </a:r>
          </a:p>
          <a:p>
            <a:r>
              <a:rPr lang="en-US" dirty="0">
                <a:sym typeface="Wingdings" panose="05000000000000000000" pitchFamily="2" charset="2"/>
              </a:rPr>
              <a:t>Console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Input(char, int, float)  Process Output (char(s), int, float)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9382A5-9D07-D206-1544-30EDACFF0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3FFE79-852C-78B9-4CDD-2596320D8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2380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ACA65-11E3-9741-5B3D-A4814F194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Input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E99E3-82CB-C1F8-26A9-2DC15AAA6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cin</a:t>
            </a:r>
            <a:endParaRPr lang="en-US" dirty="0"/>
          </a:p>
          <a:p>
            <a:pPr lvl="1"/>
            <a:r>
              <a:rPr lang="en-US" dirty="0"/>
              <a:t>Read data from keyboard</a:t>
            </a:r>
          </a:p>
          <a:p>
            <a:pPr lvl="1"/>
            <a:r>
              <a:rPr lang="en-US" dirty="0"/>
              <a:t>Store it in variables</a:t>
            </a:r>
          </a:p>
          <a:p>
            <a:r>
              <a:rPr lang="en-US" dirty="0"/>
              <a:t>Extraction operator </a:t>
            </a:r>
          </a:p>
          <a:p>
            <a:pPr lvl="1"/>
            <a:r>
              <a:rPr lang="en-US" dirty="0"/>
              <a:t>&gt;&gt;</a:t>
            </a:r>
          </a:p>
          <a:p>
            <a:r>
              <a:rPr lang="en-US" dirty="0"/>
              <a:t>Can use multiple data types ( char, int, float , …)</a:t>
            </a:r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int age;</a:t>
            </a:r>
          </a:p>
          <a:p>
            <a:pPr lvl="1"/>
            <a:r>
              <a:rPr lang="en-US" dirty="0" err="1"/>
              <a:t>cin</a:t>
            </a:r>
            <a:r>
              <a:rPr lang="en-US" dirty="0"/>
              <a:t> &gt;&gt; age;</a:t>
            </a:r>
            <a:br>
              <a:rPr lang="en-US" dirty="0"/>
            </a:b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1E8EF1-0F06-C338-BF29-D4BD40909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EB30ED-8FA4-0AF3-13F2-86B46E13D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5483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EAF88-59CE-F3D8-3021-9A22E93FE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C9D8D-2C08-44C3-8A6B-5ABFD2C1B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cout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Write data to console/Screen</a:t>
            </a:r>
          </a:p>
          <a:p>
            <a:pPr lvl="1"/>
            <a:r>
              <a:rPr lang="en-US" dirty="0"/>
              <a:t>Reads from memory</a:t>
            </a:r>
          </a:p>
          <a:p>
            <a:r>
              <a:rPr lang="en-US" dirty="0"/>
              <a:t>Insertion operator </a:t>
            </a:r>
          </a:p>
          <a:p>
            <a:pPr lvl="1"/>
            <a:r>
              <a:rPr lang="en-US" dirty="0"/>
              <a:t>&lt;&lt;</a:t>
            </a:r>
          </a:p>
          <a:p>
            <a:r>
              <a:rPr lang="en-US" dirty="0"/>
              <a:t>Can use multiple data types(variables, literals, constants)</a:t>
            </a:r>
          </a:p>
          <a:p>
            <a:r>
              <a:rPr lang="en-US" dirty="0"/>
              <a:t>Example </a:t>
            </a:r>
          </a:p>
          <a:p>
            <a:pPr lvl="1"/>
            <a:r>
              <a:rPr lang="en-US" dirty="0"/>
              <a:t>int age = 172;</a:t>
            </a:r>
          </a:p>
          <a:p>
            <a:pPr lvl="1"/>
            <a:r>
              <a:rPr lang="en-US" dirty="0" err="1"/>
              <a:t>cout</a:t>
            </a:r>
            <a:r>
              <a:rPr lang="en-US" dirty="0"/>
              <a:t> &lt;&lt; age;</a:t>
            </a:r>
            <a:br>
              <a:rPr lang="en-US" dirty="0"/>
            </a:b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721593-33DF-47B8-2965-876031C67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0FBA7A-6595-4395-B178-9B62D54B5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3643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61F75-1E62-8677-6D5A-0C3FA4D7F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 &gt;&gt;,&lt;&lt;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42FBE-1CE8-9A89-1CD2-C66724043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Extraction and Insertion operators </a:t>
            </a:r>
          </a:p>
          <a:p>
            <a:r>
              <a:rPr lang="en-US" dirty="0"/>
              <a:t>Can be cascaded </a:t>
            </a:r>
          </a:p>
          <a:p>
            <a:pPr lvl="1"/>
            <a:r>
              <a:rPr lang="en-US" dirty="0" err="1"/>
              <a:t>cin</a:t>
            </a:r>
            <a:r>
              <a:rPr lang="en-US" dirty="0"/>
              <a:t> &gt;&gt;age &gt;&gt; name;</a:t>
            </a:r>
          </a:p>
          <a:p>
            <a:pPr lvl="1"/>
            <a:r>
              <a:rPr lang="en-US" dirty="0" err="1"/>
              <a:t>cout</a:t>
            </a:r>
            <a:r>
              <a:rPr lang="en-US" dirty="0"/>
              <a:t>&lt;&lt;age &lt;&lt; name;</a:t>
            </a:r>
          </a:p>
          <a:p>
            <a:r>
              <a:rPr lang="en-US" dirty="0"/>
              <a:t>&lt;&lt; works with stream modifiers</a:t>
            </a:r>
          </a:p>
          <a:p>
            <a:pPr lvl="1"/>
            <a:r>
              <a:rPr lang="en-US" dirty="0"/>
              <a:t>“\n” : newline </a:t>
            </a:r>
          </a:p>
          <a:p>
            <a:pPr lvl="2"/>
            <a:r>
              <a:rPr lang="en-US" dirty="0" err="1"/>
              <a:t>cout</a:t>
            </a:r>
            <a:r>
              <a:rPr lang="en-US" dirty="0"/>
              <a:t> &lt;&lt;“\n”; //moves the cursor to new line</a:t>
            </a:r>
          </a:p>
          <a:p>
            <a:pPr lvl="1"/>
            <a:r>
              <a:rPr lang="en-US" dirty="0"/>
              <a:t>Or </a:t>
            </a:r>
            <a:br>
              <a:rPr lang="en-US" dirty="0"/>
            </a:br>
            <a:r>
              <a:rPr lang="en-US" dirty="0" err="1"/>
              <a:t>cout</a:t>
            </a:r>
            <a:r>
              <a:rPr lang="en-US" dirty="0"/>
              <a:t> &lt;&lt;</a:t>
            </a:r>
            <a:r>
              <a:rPr lang="en-US" dirty="0" err="1"/>
              <a:t>endl</a:t>
            </a:r>
            <a:r>
              <a:rPr lang="en-US" dirty="0"/>
              <a:t>; //Same visual effect as “\n” but is different</a:t>
            </a:r>
          </a:p>
          <a:p>
            <a:pPr lvl="1"/>
            <a:r>
              <a:rPr lang="en-US" dirty="0"/>
              <a:t>(there are other stream modifiers too)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3FC915-75C0-D0B1-3A14-5AE42CF1B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B5CEE8-92E4-04C5-95BC-C81B0B563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237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A0D4E-A35E-A5AA-3E6D-1F5E7C5A0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5F3B9-458B-4D9D-2A33-70A3D4DF2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Using Cin ( </a:t>
            </a:r>
            <a:r>
              <a:rPr lang="en-US" sz="1800" dirty="0"/>
              <a:t>Hint: define a variable first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Input a character (char)</a:t>
            </a:r>
          </a:p>
          <a:p>
            <a:pPr lvl="1"/>
            <a:r>
              <a:rPr lang="en-US" dirty="0"/>
              <a:t>Input an integer(int) </a:t>
            </a:r>
          </a:p>
          <a:p>
            <a:pPr lvl="1"/>
            <a:r>
              <a:rPr lang="en-US" dirty="0"/>
              <a:t>Input a decimal( float)</a:t>
            </a:r>
          </a:p>
          <a:p>
            <a:r>
              <a:rPr lang="en-US" dirty="0"/>
              <a:t>Using </a:t>
            </a:r>
            <a:r>
              <a:rPr lang="en-US" dirty="0" err="1"/>
              <a:t>cout</a:t>
            </a:r>
            <a:endParaRPr lang="en-US" dirty="0"/>
          </a:p>
          <a:p>
            <a:pPr lvl="1"/>
            <a:r>
              <a:rPr lang="en-US" dirty="0"/>
              <a:t>Output a character</a:t>
            </a:r>
          </a:p>
          <a:p>
            <a:pPr lvl="1"/>
            <a:r>
              <a:rPr lang="en-US" dirty="0"/>
              <a:t>Output an integer</a:t>
            </a:r>
          </a:p>
          <a:p>
            <a:pPr lvl="1"/>
            <a:r>
              <a:rPr lang="en-US" dirty="0"/>
              <a:t>Output a decimal. </a:t>
            </a:r>
          </a:p>
          <a:p>
            <a:r>
              <a:rPr lang="en-US" dirty="0"/>
              <a:t>Use </a:t>
            </a:r>
            <a:r>
              <a:rPr lang="en-US" dirty="0" err="1"/>
              <a:t>endl</a:t>
            </a:r>
            <a:r>
              <a:rPr lang="en-US" dirty="0"/>
              <a:t> and “\n”</a:t>
            </a:r>
          </a:p>
          <a:p>
            <a:r>
              <a:rPr lang="en-US" dirty="0"/>
              <a:t>Cascade the operators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02E3F5-A0A2-BB24-1BF9-F789F3050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969ED2-922E-8947-402C-A604FA37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0830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0E8C3-C253-A4E1-D6C6-22F92DEF5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: Mad libs story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D101D-5C2D-690A-2C0C-5EF5EBF5D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72BD80-CC89-E730-0882-E6A707522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31182"/>
            <a:ext cx="8124176" cy="408002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5725CE-C286-F82F-5DE3-D835228FA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1979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FF876-DCA9-DDF0-8507-EDCB5ABEB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Boss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1AECC-DEFA-FF48-C9D3-F60CED7C5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Input student details </a:t>
            </a:r>
          </a:p>
          <a:p>
            <a:pPr lvl="1"/>
            <a:r>
              <a:rPr lang="en-US" dirty="0"/>
              <a:t>Student Name</a:t>
            </a:r>
          </a:p>
          <a:p>
            <a:pPr lvl="1"/>
            <a:r>
              <a:rPr lang="en-US" dirty="0"/>
              <a:t>Subject name </a:t>
            </a:r>
          </a:p>
          <a:p>
            <a:pPr lvl="1"/>
            <a:r>
              <a:rPr lang="en-US" dirty="0"/>
              <a:t>Marks ( out of 100)</a:t>
            </a:r>
          </a:p>
          <a:p>
            <a:r>
              <a:rPr lang="en-US" dirty="0"/>
              <a:t>Process</a:t>
            </a:r>
          </a:p>
          <a:p>
            <a:pPr lvl="1"/>
            <a:r>
              <a:rPr lang="en-US" dirty="0"/>
              <a:t>Find grade using this table </a:t>
            </a:r>
          </a:p>
          <a:p>
            <a:pPr lvl="1"/>
            <a:r>
              <a:rPr lang="en-US" dirty="0"/>
              <a:t>90 &lt;marks </a:t>
            </a:r>
            <a:r>
              <a:rPr lang="en-US" dirty="0">
                <a:sym typeface="Wingdings" panose="05000000000000000000" pitchFamily="2" charset="2"/>
              </a:rPr>
              <a:t>A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75 &lt;= marks &lt; 90  B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60 &lt;= marks &lt;=74 C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marks &lt;60 D</a:t>
            </a:r>
          </a:p>
          <a:p>
            <a:r>
              <a:rPr lang="en-US" dirty="0">
                <a:sym typeface="Wingdings" panose="05000000000000000000" pitchFamily="2" charset="2"/>
              </a:rPr>
              <a:t>Output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Grade for the student</a:t>
            </a:r>
          </a:p>
          <a:p>
            <a:r>
              <a:rPr lang="en-US" dirty="0">
                <a:sym typeface="Wingdings" panose="05000000000000000000" pitchFamily="2" charset="2"/>
              </a:rPr>
              <a:t>Challenge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Enter multiple students, print how many students had A, B , C and D grades each. </a:t>
            </a:r>
          </a:p>
          <a:p>
            <a:r>
              <a:rPr lang="en-US" dirty="0">
                <a:sym typeface="Wingdings" panose="05000000000000000000" pitchFamily="2" charset="2"/>
              </a:rPr>
              <a:t>Hint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Need to know conditional (if-else)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May need to know loop (while)</a:t>
            </a:r>
          </a:p>
          <a:p>
            <a:pPr lvl="1"/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AA2C54-3147-41DE-0736-4E4783475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A52E6A-93AD-4545-00FB-956E87692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4467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69880-CBDC-E452-5F3E-C1A516CCD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,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236CF-501A-DC05-7261-81A10359E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C/C++Keywords we know already</a:t>
            </a:r>
          </a:p>
          <a:p>
            <a:pPr lvl="1"/>
            <a:r>
              <a:rPr lang="en-US" dirty="0"/>
              <a:t>And few more </a:t>
            </a:r>
          </a:p>
          <a:p>
            <a:pPr lvl="2"/>
            <a:r>
              <a:rPr lang="en-US" dirty="0"/>
              <a:t>signed , unsigned</a:t>
            </a:r>
          </a:p>
          <a:p>
            <a:pPr lvl="2"/>
            <a:r>
              <a:rPr lang="en-US" dirty="0"/>
              <a:t>short , long</a:t>
            </a:r>
          </a:p>
          <a:p>
            <a:r>
              <a:rPr lang="en-US" dirty="0"/>
              <a:t>Computers think in 0s and 1s</a:t>
            </a:r>
          </a:p>
          <a:p>
            <a:pPr lvl="1"/>
            <a:r>
              <a:rPr lang="en-US" dirty="0"/>
              <a:t>What types ?</a:t>
            </a:r>
          </a:p>
          <a:p>
            <a:r>
              <a:rPr lang="en-US" dirty="0"/>
              <a:t>Computer have speed measured in hertz (Hz)</a:t>
            </a:r>
          </a:p>
          <a:p>
            <a:pPr lvl="1"/>
            <a:r>
              <a:rPr lang="en-US" dirty="0"/>
              <a:t>How much faster is 1Kilo Hertz than 1Hz ? </a:t>
            </a:r>
          </a:p>
          <a:p>
            <a:pPr lvl="1"/>
            <a:r>
              <a:rPr lang="en-US" dirty="0"/>
              <a:t>What are current computer speeds 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7DFA6A-E311-64DA-8F05-9FA78D473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60B358-7246-A2AC-8955-46612639E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153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E8121-A09C-5DA0-1A78-B6D417A14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computer capabilities </a:t>
            </a:r>
            <a:r>
              <a:rPr lang="en-US" sz="2400" dirty="0"/>
              <a:t>(some more units)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02741-7967-E5EB-84B7-922BEC7A9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FLOPS : floating point operations per second</a:t>
            </a:r>
          </a:p>
          <a:p>
            <a:pPr lvl="1"/>
            <a:r>
              <a:rPr lang="en-US" dirty="0"/>
              <a:t>FP 16, </a:t>
            </a:r>
            <a:r>
              <a:rPr lang="en-US" b="1" dirty="0"/>
              <a:t>FP 32</a:t>
            </a:r>
            <a:r>
              <a:rPr lang="en-US" dirty="0"/>
              <a:t>,  FP 64</a:t>
            </a:r>
          </a:p>
          <a:p>
            <a:r>
              <a:rPr lang="en-US" dirty="0"/>
              <a:t>IOPS : Input/Output operations per second</a:t>
            </a:r>
          </a:p>
          <a:p>
            <a:r>
              <a:rPr lang="en-US" dirty="0"/>
              <a:t>Fun facts </a:t>
            </a:r>
          </a:p>
          <a:p>
            <a:pPr lvl="1"/>
            <a:r>
              <a:rPr lang="en-US" dirty="0"/>
              <a:t>Computers are afraid of floats</a:t>
            </a:r>
          </a:p>
          <a:p>
            <a:pPr lvl="1"/>
            <a:r>
              <a:rPr lang="en-US" dirty="0"/>
              <a:t>Computers are afraid of division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978473-0F1C-3893-13C9-ECDE43BE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FB6D3E-D2DB-6A77-CCCF-D13AACBFD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3800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8658-FF89-2DA7-CBD2-00EDC6C9B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2187F-4DDE-584D-4259-FE18FAA82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Getting smaller</a:t>
            </a:r>
          </a:p>
          <a:p>
            <a:pPr lvl="1"/>
            <a:r>
              <a:rPr lang="en-US" b="1" dirty="0"/>
              <a:t>Die</a:t>
            </a:r>
            <a:r>
              <a:rPr lang="en-US" dirty="0"/>
              <a:t> sizes have been shrinking</a:t>
            </a:r>
          </a:p>
          <a:p>
            <a:r>
              <a:rPr lang="en-US" dirty="0"/>
              <a:t>Getting faster</a:t>
            </a:r>
          </a:p>
          <a:p>
            <a:pPr lvl="1"/>
            <a:r>
              <a:rPr lang="en-US" dirty="0"/>
              <a:t>Same size </a:t>
            </a:r>
            <a:r>
              <a:rPr lang="en-US" b="1" dirty="0"/>
              <a:t>die</a:t>
            </a:r>
            <a:r>
              <a:rPr lang="en-US" dirty="0"/>
              <a:t> have more </a:t>
            </a:r>
            <a:r>
              <a:rPr lang="en-US" b="1" dirty="0"/>
              <a:t>transistors</a:t>
            </a:r>
          </a:p>
          <a:p>
            <a:r>
              <a:rPr lang="en-US" dirty="0"/>
              <a:t>Getting crowded</a:t>
            </a:r>
          </a:p>
          <a:p>
            <a:pPr lvl="1"/>
            <a:r>
              <a:rPr lang="en-US" dirty="0"/>
              <a:t>More </a:t>
            </a:r>
            <a:r>
              <a:rPr lang="en-US" b="1" dirty="0"/>
              <a:t>core</a:t>
            </a:r>
            <a:r>
              <a:rPr lang="en-US" dirty="0"/>
              <a:t> counts per </a:t>
            </a:r>
            <a:r>
              <a:rPr lang="en-US" b="1" dirty="0"/>
              <a:t>die</a:t>
            </a:r>
          </a:p>
          <a:p>
            <a:r>
              <a:rPr lang="en-US" dirty="0"/>
              <a:t>Getting chatty</a:t>
            </a:r>
          </a:p>
          <a:p>
            <a:pPr lvl="1"/>
            <a:r>
              <a:rPr lang="en-US" dirty="0"/>
              <a:t>Networked , internet connected</a:t>
            </a:r>
          </a:p>
          <a:p>
            <a:r>
              <a:rPr lang="en-US" dirty="0"/>
              <a:t>Getting efficient</a:t>
            </a:r>
          </a:p>
          <a:p>
            <a:pPr lvl="1"/>
            <a:r>
              <a:rPr lang="en-US" dirty="0"/>
              <a:t>More performance per unit of </a:t>
            </a:r>
            <a:r>
              <a:rPr lang="en-US" b="1" dirty="0"/>
              <a:t>power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481AD4-4FF7-884E-D9FE-CF80AD9E7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15B942-E4DD-753A-F87F-D462B1E7B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2858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8A3DD-FCCE-4129-9206-3560F88E8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C++, Decision Making &amp; Branching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9BE7C-8AE3-35A8-4789-D6E0BD6AD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, else </a:t>
            </a:r>
          </a:p>
          <a:p>
            <a:r>
              <a:rPr lang="en-US" dirty="0"/>
              <a:t>switch </a:t>
            </a:r>
          </a:p>
          <a:p>
            <a:r>
              <a:rPr lang="en-US" dirty="0" err="1"/>
              <a:t>goto</a:t>
            </a:r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28CB9B-5F79-D6CC-50D9-A45D4DE6C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72240D-243D-D2C5-7D7E-DBB051FE4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760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8AEFA-C597-97E4-4100-3128A3DD8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Decisions , using “if”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10927-5E1B-5734-DE19-2ABF939B3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31BE60D-BBF6-60D1-72AE-DDDBCA9F7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683" y="1690688"/>
            <a:ext cx="4402275" cy="40156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28DBD97-A16B-F554-7837-36BB6541E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855" y="2718000"/>
            <a:ext cx="3486329" cy="1320868"/>
          </a:xfrm>
          <a:prstGeom prst="rect">
            <a:avLst/>
          </a:prstGeom>
        </p:spPr>
      </p:pic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881B1D71-1AE5-29F2-B3FE-6248A23D9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1D1C8-2EE2-78EC-6327-868EC283C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2070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7BF83-E9B2-DE02-CF94-ABD0FBD04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Decisions using “if else”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0B9DFF-AE57-8B8F-9163-381ED961B6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9655" y="2445487"/>
            <a:ext cx="3664138" cy="2197213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6770F9-DD8E-65C8-5581-A551F40F2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645" y="1891293"/>
            <a:ext cx="4196591" cy="3823997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88E2BAC-F34A-18F1-0156-33C55A0B8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B7E276-5326-948C-4798-80F8BC6E2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3857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8E79-8065-D678-7775-E6AC98068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decision, If else if else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759AE85-9434-FA7F-C011-2098A11C4D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5548" y="2452018"/>
            <a:ext cx="4769095" cy="25591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9B4364-F6BB-F15A-2248-A62EF6D32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542" y="1732921"/>
            <a:ext cx="5358802" cy="4113447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B80B50-1646-27C8-1D18-51E3739DB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AE0087-3E57-4A6C-BDBD-2F6235FB0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3665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0A683-EA1E-7844-9FD6-D7B6A86B6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operators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D78FE-ABD4-4594-6092-DD821D5A7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less than </a:t>
            </a:r>
          </a:p>
          <a:p>
            <a:pPr lvl="1"/>
            <a:r>
              <a:rPr lang="en-US" dirty="0"/>
              <a:t>&lt;</a:t>
            </a:r>
          </a:p>
          <a:p>
            <a:r>
              <a:rPr lang="en-US" dirty="0"/>
              <a:t>greater than</a:t>
            </a:r>
          </a:p>
          <a:p>
            <a:pPr lvl="1"/>
            <a:r>
              <a:rPr lang="en-US" dirty="0"/>
              <a:t> &gt;</a:t>
            </a:r>
          </a:p>
          <a:p>
            <a:r>
              <a:rPr lang="en-US" dirty="0"/>
              <a:t>less then or equal to</a:t>
            </a:r>
          </a:p>
          <a:p>
            <a:pPr lvl="1"/>
            <a:r>
              <a:rPr lang="en-US" dirty="0"/>
              <a:t> &lt;=</a:t>
            </a:r>
          </a:p>
          <a:p>
            <a:r>
              <a:rPr lang="en-US" dirty="0"/>
              <a:t>greater than or equal to</a:t>
            </a:r>
          </a:p>
          <a:p>
            <a:pPr lvl="1"/>
            <a:r>
              <a:rPr lang="en-US" dirty="0"/>
              <a:t> &gt;= </a:t>
            </a:r>
          </a:p>
          <a:p>
            <a:r>
              <a:rPr lang="en-US" dirty="0"/>
              <a:t>is equal to </a:t>
            </a:r>
          </a:p>
          <a:p>
            <a:pPr lvl="1"/>
            <a:r>
              <a:rPr lang="en-US" dirty="0"/>
              <a:t> ==</a:t>
            </a:r>
          </a:p>
          <a:p>
            <a:r>
              <a:rPr lang="en-US" dirty="0"/>
              <a:t>is not equal to </a:t>
            </a:r>
          </a:p>
          <a:p>
            <a:pPr lvl="1"/>
            <a:r>
              <a:rPr lang="en-US" dirty="0"/>
              <a:t>!=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7E1EB8-B39D-E063-F9FA-C285294D5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09DF45-29F2-A47C-8EA4-79631F6C5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517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9EEF8-F4A6-F18F-0437-AFCAF9297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(if else)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40164-11B6-324C-490E-12B6CEBB8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user to enter a single digit number</a:t>
            </a:r>
          </a:p>
          <a:p>
            <a:r>
              <a:rPr lang="en-US" dirty="0"/>
              <a:t>Print the digit in English</a:t>
            </a:r>
          </a:p>
          <a:p>
            <a:pPr lvl="1"/>
            <a:r>
              <a:rPr lang="en-US" dirty="0"/>
              <a:t>0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“zero”</a:t>
            </a:r>
          </a:p>
          <a:p>
            <a:pPr lvl="1"/>
            <a:r>
              <a:rPr lang="en-US" dirty="0"/>
              <a:t>1 </a:t>
            </a:r>
            <a:r>
              <a:rPr lang="en-US" dirty="0">
                <a:sym typeface="Wingdings" panose="05000000000000000000" pitchFamily="2" charset="2"/>
              </a:rPr>
              <a:t> “one”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…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8  “eight”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9  “nine”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(Anything else) “ this is not a single digit number”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944107-6526-0196-9B19-FB0FA742E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280" y="2003799"/>
            <a:ext cx="3127649" cy="2726852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DD3A73-72D3-BE6C-73D5-AD3533F23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AFD4B-5B95-5CDF-E0C8-A8B2D61FD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675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A100A-2BAE-7BDF-BF99-FFCD8DACF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Branching using Switch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710C74-DADD-6B03-20ED-5CAE0AB63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811" y="2163663"/>
            <a:ext cx="3927284" cy="3424017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36C6C7D-6474-A5D8-FD2C-D5DB5FC7E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5145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E3A5F4-8204-CE77-A4A9-1B76446DA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537" y="1922086"/>
            <a:ext cx="2157804" cy="4065759"/>
          </a:xfrm>
          <a:prstGeom prst="rect">
            <a:avLst/>
          </a:prstGeom>
        </p:spPr>
      </p:pic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925F229-106F-7A7E-5B74-89C9B6311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B93D8A-F7AE-5620-B049-8B71C34F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2092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F174E-22E7-A968-A77D-6C74B907C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(switch)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05E26-034F-EAA9-3A0E-5B0808838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Get user to enter a single digit number from [1,2,3,4,5,6,7]</a:t>
            </a:r>
          </a:p>
          <a:p>
            <a:r>
              <a:rPr lang="en-US" dirty="0"/>
              <a:t>Convert it into day of week</a:t>
            </a:r>
          </a:p>
          <a:p>
            <a:pPr lvl="1"/>
            <a:r>
              <a:rPr lang="en-US" dirty="0"/>
              <a:t>1 </a:t>
            </a:r>
            <a:r>
              <a:rPr lang="en-US" dirty="0">
                <a:sym typeface="Wingdings" panose="05000000000000000000" pitchFamily="2" charset="2"/>
              </a:rPr>
              <a:t> “Sunday”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2  “Monday”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3 “Tuesday”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4  “Wednesday”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5  “Thursday”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6  “Friday”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7  “Saturday”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(Anything else)  “Invalid number for a day”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5A6FD9-6FF5-D5C2-3B01-66AB54687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26DE46-B755-F06A-8DF7-A3AFF0BB9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7043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D1F38-AB05-B99A-6682-52CE5254F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Asssignment</a:t>
            </a:r>
            <a:r>
              <a:rPr lang="en-US" dirty="0"/>
              <a:t> , quiz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20816-4909-620C-69BB-3B5A6A028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Create a quiz game containing </a:t>
            </a:r>
            <a:r>
              <a:rPr lang="en-US" dirty="0" err="1"/>
              <a:t>atleast</a:t>
            </a:r>
            <a:r>
              <a:rPr lang="en-US" dirty="0"/>
              <a:t> 3 questions. </a:t>
            </a:r>
          </a:p>
          <a:p>
            <a:pPr lvl="1"/>
            <a:r>
              <a:rPr lang="en-US" dirty="0"/>
              <a:t>Print a question ,</a:t>
            </a:r>
          </a:p>
          <a:p>
            <a:pPr lvl="1"/>
            <a:r>
              <a:rPr lang="en-US" dirty="0"/>
              <a:t>provide 4 numbered options ,</a:t>
            </a:r>
          </a:p>
          <a:p>
            <a:pPr lvl="1"/>
            <a:r>
              <a:rPr lang="en-US" dirty="0"/>
              <a:t>User enters the option number and verifies result.</a:t>
            </a:r>
          </a:p>
          <a:p>
            <a:pPr lvl="1"/>
            <a:r>
              <a:rPr lang="en-US" dirty="0"/>
              <a:t>Keep score of how many correct responses user input</a:t>
            </a:r>
          </a:p>
          <a:p>
            <a:r>
              <a:rPr lang="en-US" dirty="0"/>
              <a:t>Print the score (e.g.3 /4 correct , )</a:t>
            </a:r>
          </a:p>
          <a:p>
            <a:r>
              <a:rPr lang="en-US" dirty="0"/>
              <a:t>An example</a:t>
            </a:r>
            <a:br>
              <a:rPr lang="en-US" dirty="0"/>
            </a:br>
            <a:r>
              <a:rPr lang="en-US" dirty="0"/>
              <a:t>Q1. What is the capital of USA ?</a:t>
            </a:r>
          </a:p>
          <a:p>
            <a:pPr marL="457200" lvl="1" indent="0">
              <a:buNone/>
            </a:pPr>
            <a:r>
              <a:rPr lang="en-US" dirty="0"/>
              <a:t>1. Seattle</a:t>
            </a:r>
          </a:p>
          <a:p>
            <a:pPr marL="457200" lvl="1" indent="0">
              <a:buNone/>
            </a:pPr>
            <a:r>
              <a:rPr lang="en-US" dirty="0"/>
              <a:t>2. Los Angeles</a:t>
            </a:r>
          </a:p>
          <a:p>
            <a:pPr marL="457200" lvl="1" indent="0">
              <a:buNone/>
            </a:pPr>
            <a:r>
              <a:rPr lang="en-US" dirty="0"/>
              <a:t>3. Washington DC</a:t>
            </a:r>
          </a:p>
          <a:p>
            <a:pPr marL="457200" lvl="1" indent="0">
              <a:buNone/>
            </a:pPr>
            <a:r>
              <a:rPr lang="en-US" dirty="0"/>
              <a:t>4. Chicago</a:t>
            </a:r>
          </a:p>
          <a:p>
            <a:pPr marL="457200" lvl="1" indent="0">
              <a:buNone/>
            </a:pPr>
            <a:r>
              <a:rPr lang="en-US" dirty="0"/>
              <a:t>Enter your response : _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75BF99-23A3-E4C5-A210-C6B4DA3FD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FFEB64-9CC8-B086-083B-C289C7338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8853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C2E9F-293F-91E6-1CAA-A55CC0D8E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Boss Assignment </a:t>
            </a:r>
            <a:br>
              <a:rPr lang="en-US" dirty="0"/>
            </a:br>
            <a:r>
              <a:rPr lang="en-US" dirty="0"/>
              <a:t>Convert a string of 0,1 to decimal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1AEBC-82BF-F137-6A51-3D56C469B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a string of 0s and 1s from user </a:t>
            </a:r>
          </a:p>
          <a:p>
            <a:r>
              <a:rPr lang="en-US" dirty="0"/>
              <a:t>Calculate what the decimal number for it is ?</a:t>
            </a:r>
          </a:p>
          <a:p>
            <a:r>
              <a:rPr lang="en-US" dirty="0"/>
              <a:t>Note</a:t>
            </a:r>
          </a:p>
          <a:p>
            <a:pPr lvl="1"/>
            <a:r>
              <a:rPr lang="en-US" dirty="0"/>
              <a:t>This is very hard , may take hours/days/weeks</a:t>
            </a:r>
          </a:p>
          <a:p>
            <a:r>
              <a:rPr lang="en-US" dirty="0"/>
              <a:t>Hint </a:t>
            </a:r>
          </a:p>
          <a:p>
            <a:pPr lvl="1"/>
            <a:r>
              <a:rPr lang="en-US" dirty="0"/>
              <a:t>You would need to know </a:t>
            </a:r>
          </a:p>
          <a:p>
            <a:pPr lvl="2"/>
            <a:r>
              <a:rPr lang="en-US" dirty="0"/>
              <a:t>string (or char array)</a:t>
            </a:r>
          </a:p>
          <a:p>
            <a:pPr lvl="2"/>
            <a:r>
              <a:rPr lang="en-US" dirty="0"/>
              <a:t>Loops (while)</a:t>
            </a:r>
          </a:p>
          <a:p>
            <a:pPr lvl="2"/>
            <a:r>
              <a:rPr lang="en-US" dirty="0"/>
              <a:t>Binary logic</a:t>
            </a:r>
          </a:p>
          <a:p>
            <a:pPr lvl="2"/>
            <a:r>
              <a:rPr lang="en-US" dirty="0"/>
              <a:t>*Loops within loops</a:t>
            </a:r>
          </a:p>
          <a:p>
            <a:pPr lvl="2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FF52C1-F231-3C36-FA48-7B0C892CF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53D289-A9F0-CEDB-0417-778EEBDD7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2971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1C213-294D-B388-DF27-4686BDB6E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Code, as seen by computer : HelloWorld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951DA-B969-AAA8-9888-B01A3A9C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9839"/>
            <a:ext cx="10515600" cy="4351338"/>
          </a:xfrm>
        </p:spPr>
        <p:txBody>
          <a:bodyPr/>
          <a:lstStyle/>
          <a:p>
            <a:r>
              <a:rPr lang="en-US" dirty="0" err="1"/>
              <a:t>Cpp</a:t>
            </a:r>
            <a:r>
              <a:rPr lang="en-US" dirty="0"/>
              <a:t> vs assembly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B736C9-F0FA-12CD-FDC6-9D228E62E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229" y="2736997"/>
            <a:ext cx="5016758" cy="22099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8DCA2A-9673-30DF-5594-6CED18461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322" y="2736997"/>
            <a:ext cx="3723695" cy="1151119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31C907-3628-FE53-688E-BF00CAB1C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B1602-C797-420A-87EC-35380CA7F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8833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C1430-3EDB-9C54-8828-E84C7E5F1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, as seen by computer : Find larger num.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EC10D-73A9-4D35-4E77-7AE793810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Cpp</a:t>
            </a:r>
            <a:r>
              <a:rPr lang="en-US" dirty="0"/>
              <a:t> vs Assembly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7E3FA0-B80A-1F3F-15F3-5F25AC7CE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018" y="2769046"/>
            <a:ext cx="2825895" cy="20194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E5932C-54A7-9045-4CB4-8596ACCC6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2501" y="2769046"/>
            <a:ext cx="5086611" cy="261633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727642-34A7-8A5A-3518-A809FE513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7AC12-3381-38C5-13DC-A131D6F55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9763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5CFD-971B-FF73-3235-45B8D5556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Branching visualized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EB182-8CA0-F886-3E79-69C68697E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 looks sequential </a:t>
            </a:r>
          </a:p>
          <a:p>
            <a:r>
              <a:rPr lang="en-US" dirty="0"/>
              <a:t>But really has branches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D340D6-2B79-664A-8CFE-F66921325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37930"/>
            <a:ext cx="3991948" cy="30602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2593B2-DAAB-191A-B748-304047EC1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5657" y="1090072"/>
            <a:ext cx="2825895" cy="20194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AF9F61-14A3-1EB1-6C54-C1C3222F89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5657" y="3460112"/>
            <a:ext cx="5086611" cy="261633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702E66-597F-151E-7584-4F104389F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52582CE-AE50-6A9E-C037-C7565076C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3192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076E8-0BB3-CFF6-FE9B-D9FFBB5E4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 : Things that happen over and over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3C847-6C6E-BB15-EF03-8B5E0964D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Years</a:t>
            </a:r>
          </a:p>
          <a:p>
            <a:pPr lvl="1"/>
            <a:r>
              <a:rPr lang="en-US" dirty="0"/>
              <a:t>…,2024,2025, …</a:t>
            </a:r>
          </a:p>
          <a:p>
            <a:r>
              <a:rPr lang="en-US" dirty="0"/>
              <a:t>Seasons</a:t>
            </a:r>
          </a:p>
          <a:p>
            <a:pPr lvl="1"/>
            <a:r>
              <a:rPr lang="en-US" dirty="0"/>
              <a:t>Spring, summer, fall, winter</a:t>
            </a:r>
          </a:p>
          <a:p>
            <a:r>
              <a:rPr lang="en-US" dirty="0"/>
              <a:t>School </a:t>
            </a:r>
          </a:p>
          <a:p>
            <a:pPr lvl="1"/>
            <a:r>
              <a:rPr lang="en-US" dirty="0"/>
              <a:t>Learn , Homework, Tests </a:t>
            </a:r>
          </a:p>
          <a:p>
            <a:pPr lvl="1"/>
            <a:r>
              <a:rPr lang="en-US" dirty="0"/>
              <a:t>Scoring</a:t>
            </a:r>
          </a:p>
          <a:p>
            <a:r>
              <a:rPr lang="en-US" dirty="0"/>
              <a:t>Reading a book </a:t>
            </a:r>
          </a:p>
          <a:p>
            <a:pPr lvl="1"/>
            <a:r>
              <a:rPr lang="en-US" dirty="0"/>
              <a:t>Title,… page, </a:t>
            </a:r>
            <a:r>
              <a:rPr lang="en-US" dirty="0" err="1"/>
              <a:t>page,page</a:t>
            </a:r>
            <a:r>
              <a:rPr lang="en-US" dirty="0"/>
              <a:t> …,the end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B59F75-38C3-BA71-382D-65180DF38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39E957-22C1-65F6-C5B6-AAA3F36EF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7182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59789-A42E-9258-03F9-AF6697496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making and looping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CE3C7-238B-E65F-87BF-4603F54C7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  <a:p>
            <a:pPr lvl="1"/>
            <a:r>
              <a:rPr lang="en-US" dirty="0"/>
              <a:t>Print “Hello”10 times </a:t>
            </a:r>
          </a:p>
          <a:p>
            <a:pPr lvl="1"/>
            <a:r>
              <a:rPr lang="en-US" dirty="0"/>
              <a:t>10 x </a:t>
            </a:r>
            <a:r>
              <a:rPr lang="en-US" dirty="0" err="1"/>
              <a:t>cout</a:t>
            </a:r>
            <a:r>
              <a:rPr lang="en-US" dirty="0"/>
              <a:t> ?</a:t>
            </a:r>
          </a:p>
          <a:p>
            <a:r>
              <a:rPr lang="en-US" dirty="0"/>
              <a:t>What if 100 times ?</a:t>
            </a:r>
          </a:p>
          <a:p>
            <a:pPr lvl="1"/>
            <a:r>
              <a:rPr lang="en-US" dirty="0"/>
              <a:t>100 x </a:t>
            </a:r>
            <a:r>
              <a:rPr lang="en-US" dirty="0" err="1"/>
              <a:t>cout</a:t>
            </a:r>
            <a:r>
              <a:rPr lang="en-US" dirty="0"/>
              <a:t> ??</a:t>
            </a:r>
          </a:p>
          <a:p>
            <a:r>
              <a:rPr lang="en-US" dirty="0"/>
              <a:t>Can we do better ?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6AF0E7-92DA-59B4-26E2-0B6E9E930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E2CE91-4258-FFBA-E5C6-8C8067E44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9708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B8555-A075-D1CE-05B2-B7DC07630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3057B-A503-0805-4FD2-C9C3DA9DA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: visualized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1D233-B4DB-D7B3-8011-C488F41B0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Print “Hello”10 times 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5B35AA-AB5C-638B-90EE-7E6DAA7AD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27906"/>
            <a:ext cx="4915153" cy="443887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20F214-9E16-EBC7-AAC4-1C1E448B7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7730C8-DA8F-19AD-7F40-C788692AA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7556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43008-7D6E-C007-AACF-5DF835D6D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16EF8-9045-2652-616F-1BFA15A3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: visualized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46D31-DFCC-08B0-EA5B-2765391D7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Print “Hello”10 times 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9284C7-EA80-259A-C31F-64A02CD7D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27906"/>
            <a:ext cx="4915153" cy="44388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91174E-8174-7A8F-2D69-3FB67EAA7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41" y="2796788"/>
            <a:ext cx="4007056" cy="227341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007465-220D-3AAC-D23C-81587BD1A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F075C-ED2E-8FC0-A183-8D6D5C0A0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8853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F9E3C-4249-314B-58BC-621F15F90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1, Guess the number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0CF7-4E0A-2390-E846-E2CCDEE23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Computer finds a random number between 0..9</a:t>
            </a:r>
          </a:p>
          <a:p>
            <a:r>
              <a:rPr lang="en-US" dirty="0"/>
              <a:t>User guesses it </a:t>
            </a:r>
          </a:p>
          <a:p>
            <a:r>
              <a:rPr lang="en-US" dirty="0"/>
              <a:t>If user fails .. they try again … (*use while loop)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2559B9-1E37-4DC1-EF97-C9DEDB111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522" y="3475352"/>
            <a:ext cx="6458282" cy="263538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A4317D-FC1A-7B4B-50F4-2DEAD560D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6C5E6-C9AF-BA2C-9141-FBB58F446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8741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E0761-169B-2FE7-BE97-3FFA89960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Boss Assignment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42128-04D1-6CDA-85AC-E8798BF80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a number from user</a:t>
            </a:r>
          </a:p>
          <a:p>
            <a:r>
              <a:rPr lang="en-US" dirty="0"/>
              <a:t>Convert the number(int) into binary.</a:t>
            </a:r>
          </a:p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0  </a:t>
            </a:r>
            <a:r>
              <a:rPr lang="en-US" dirty="0">
                <a:sym typeface="Wingdings" panose="05000000000000000000" pitchFamily="2" charset="2"/>
              </a:rPr>
              <a:t>      0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1         1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7    111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8  1000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121100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15 1111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FCD2E3-B331-C1C7-C15B-2FBCAE190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B1911B-95BE-5E6A-3357-BDF1ABDD4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82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42C1E-BC97-8BDE-C427-F0F007B8D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2.* </a:t>
            </a:r>
            <a:r>
              <a:rPr lang="en-US" sz="1400" i="1"/>
              <a:t>(hint : use </a:t>
            </a:r>
            <a:r>
              <a:rPr lang="en-US" sz="1400" i="1" dirty="0"/>
              <a:t>while)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C5318-9B55-B542-259D-4CEC67C55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Print first 10 numbers</a:t>
            </a:r>
          </a:p>
          <a:p>
            <a:r>
              <a:rPr lang="en-US" dirty="0">
                <a:highlight>
                  <a:srgbClr val="FFFF00"/>
                </a:highlight>
              </a:rPr>
              <a:t>Print the sum of first N numbers </a:t>
            </a:r>
          </a:p>
          <a:p>
            <a:pPr lvl="1"/>
            <a:r>
              <a:rPr lang="en-US" dirty="0"/>
              <a:t>N is provided by the user</a:t>
            </a:r>
          </a:p>
          <a:p>
            <a:r>
              <a:rPr lang="en-US" dirty="0">
                <a:highlight>
                  <a:srgbClr val="FFFF00"/>
                </a:highlight>
              </a:rPr>
              <a:t>Find the sum of first N odd numbers</a:t>
            </a:r>
          </a:p>
          <a:p>
            <a:r>
              <a:rPr lang="en-US" dirty="0">
                <a:highlight>
                  <a:srgbClr val="FF0000"/>
                </a:highlight>
              </a:rPr>
              <a:t>Find smallest number divisible by all numbers between 1 to 20. </a:t>
            </a:r>
          </a:p>
          <a:p>
            <a:r>
              <a:rPr lang="en-US" dirty="0">
                <a:highlight>
                  <a:srgbClr val="FF0000"/>
                </a:highlight>
              </a:rPr>
              <a:t>Find the greatest common factor of 2 numbers .</a:t>
            </a:r>
          </a:p>
          <a:p>
            <a:pPr lvl="1"/>
            <a:r>
              <a:rPr lang="en-US" dirty="0">
                <a:highlight>
                  <a:srgbClr val="FF0000"/>
                </a:highlight>
              </a:rPr>
              <a:t>2,4  </a:t>
            </a:r>
            <a:r>
              <a:rPr lang="en-US" dirty="0">
                <a:highlight>
                  <a:srgbClr val="FF0000"/>
                </a:highlight>
                <a:sym typeface="Wingdings" panose="05000000000000000000" pitchFamily="2" charset="2"/>
              </a:rPr>
              <a:t> 2</a:t>
            </a:r>
          </a:p>
          <a:p>
            <a:pPr lvl="1"/>
            <a:r>
              <a:rPr lang="en-US" dirty="0">
                <a:highlight>
                  <a:srgbClr val="FF0000"/>
                </a:highlight>
                <a:sym typeface="Wingdings" panose="05000000000000000000" pitchFamily="2" charset="2"/>
              </a:rPr>
              <a:t>6,9   3</a:t>
            </a:r>
            <a:endParaRPr lang="en-US" dirty="0">
              <a:highlight>
                <a:srgbClr val="FF0000"/>
              </a:highlight>
            </a:endParaRPr>
          </a:p>
          <a:p>
            <a:r>
              <a:rPr lang="en-US" dirty="0">
                <a:highlight>
                  <a:srgbClr val="00FF00"/>
                </a:highlight>
              </a:rPr>
              <a:t>EASY</a:t>
            </a:r>
            <a:r>
              <a:rPr lang="en-US" dirty="0">
                <a:highlight>
                  <a:srgbClr val="FFFF00"/>
                </a:highlight>
              </a:rPr>
              <a:t>MEDIUM</a:t>
            </a:r>
            <a:r>
              <a:rPr lang="en-US" dirty="0">
                <a:highlight>
                  <a:srgbClr val="FF0000"/>
                </a:highlight>
              </a:rPr>
              <a:t>HARD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261EB2-9B93-5AB5-A1A0-6F0634512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42D7E4-3CF2-5597-4F4A-10548F87B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7687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B18E8-A187-47F8-5219-376E0F518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Making at a glance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1CECF-78E8-4009-48AD-3131BF2B7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Branching</a:t>
            </a:r>
          </a:p>
          <a:p>
            <a:pPr lvl="1"/>
            <a:r>
              <a:rPr lang="en-US" dirty="0"/>
              <a:t>If/else </a:t>
            </a:r>
          </a:p>
          <a:p>
            <a:pPr lvl="2"/>
            <a:r>
              <a:rPr lang="en-US" dirty="0"/>
              <a:t>slides 30 - 32</a:t>
            </a:r>
          </a:p>
          <a:p>
            <a:pPr lvl="1"/>
            <a:r>
              <a:rPr lang="en-US" dirty="0"/>
              <a:t>switch</a:t>
            </a:r>
          </a:p>
          <a:p>
            <a:pPr lvl="1"/>
            <a:r>
              <a:rPr lang="en-US" dirty="0" err="1"/>
              <a:t>goto</a:t>
            </a:r>
            <a:endParaRPr lang="en-US" dirty="0"/>
          </a:p>
          <a:p>
            <a:r>
              <a:rPr lang="en-US" dirty="0"/>
              <a:t>Looping</a:t>
            </a:r>
          </a:p>
          <a:p>
            <a:pPr lvl="1"/>
            <a:r>
              <a:rPr lang="en-US" dirty="0"/>
              <a:t>while</a:t>
            </a:r>
          </a:p>
          <a:p>
            <a:pPr lvl="2"/>
            <a:r>
              <a:rPr lang="en-US" dirty="0"/>
              <a:t>slide 45</a:t>
            </a:r>
          </a:p>
          <a:p>
            <a:pPr lvl="1"/>
            <a:r>
              <a:rPr lang="en-US" dirty="0"/>
              <a:t>do/while</a:t>
            </a:r>
          </a:p>
          <a:p>
            <a:pPr lvl="1"/>
            <a:r>
              <a:rPr lang="en-US" dirty="0"/>
              <a:t>for</a:t>
            </a:r>
          </a:p>
          <a:p>
            <a:r>
              <a:rPr lang="en-US" dirty="0"/>
              <a:t>Jumps in loops</a:t>
            </a:r>
          </a:p>
          <a:p>
            <a:pPr lvl="1"/>
            <a:r>
              <a:rPr lang="en-US" dirty="0"/>
              <a:t>break</a:t>
            </a:r>
          </a:p>
          <a:p>
            <a:pPr lvl="1"/>
            <a:r>
              <a:rPr lang="en-US" dirty="0"/>
              <a:t>continue</a:t>
            </a:r>
          </a:p>
          <a:p>
            <a:pPr marL="914400" lvl="2" indent="0">
              <a:buNone/>
            </a:pPr>
            <a:endParaRPr lang="en-US" dirty="0"/>
          </a:p>
          <a:p>
            <a:pPr lvl="2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CEAEDC-EFE6-81ED-BF64-4D1320B46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</a:t>
            </a:r>
          </a:p>
        </p:txBody>
      </p:sp>
    </p:spTree>
    <p:extLst>
      <p:ext uri="{BB962C8B-B14F-4D97-AF65-F5344CB8AC3E}">
        <p14:creationId xmlns:p14="http://schemas.microsoft.com/office/powerpoint/2010/main" val="385235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029C2-4E43-2B17-B28C-36F01BF95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Do-while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4E219-6060-92C9-7E07-DB9A987AE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Do-while is an exit controlled loop</a:t>
            </a:r>
          </a:p>
          <a:p>
            <a:pPr lvl="1"/>
            <a:r>
              <a:rPr lang="en-US" i="1" dirty="0"/>
              <a:t>( while is entry controlled)</a:t>
            </a:r>
          </a:p>
          <a:p>
            <a:pPr lvl="1"/>
            <a:r>
              <a:rPr lang="en-US" dirty="0"/>
              <a:t>When loop content should execute at least once</a:t>
            </a:r>
          </a:p>
          <a:p>
            <a:r>
              <a:rPr lang="en-US" dirty="0" err="1"/>
              <a:t>E.g</a:t>
            </a:r>
            <a:endParaRPr lang="en-US" dirty="0"/>
          </a:p>
          <a:p>
            <a:pPr lvl="1"/>
            <a:r>
              <a:rPr lang="en-US" dirty="0"/>
              <a:t>Looping until user enters valid value</a:t>
            </a:r>
          </a:p>
          <a:p>
            <a:pPr lvl="1"/>
            <a:r>
              <a:rPr lang="en-US" dirty="0"/>
              <a:t>Gather game input for game loop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AF7430-391A-CFA1-606D-1CD2C7A95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973" y="4390806"/>
            <a:ext cx="3776888" cy="1723434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B7E55C-C8F4-CC6B-13C0-2D799E1CF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</a:t>
            </a:r>
          </a:p>
        </p:txBody>
      </p:sp>
    </p:spTree>
    <p:extLst>
      <p:ext uri="{BB962C8B-B14F-4D97-AF65-F5344CB8AC3E}">
        <p14:creationId xmlns:p14="http://schemas.microsoft.com/office/powerpoint/2010/main" val="2463173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ED334-D62C-A073-A858-D1AB2B11D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while :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D6B03-D8CA-595C-9B9C-F181D7A5E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a number between 1 and 4 from user.</a:t>
            </a:r>
          </a:p>
          <a:p>
            <a:pPr lvl="1"/>
            <a:r>
              <a:rPr lang="en-US" dirty="0"/>
              <a:t>Ask again if the numbers is not in range</a:t>
            </a:r>
          </a:p>
          <a:p>
            <a:pPr lvl="1"/>
            <a:r>
              <a:rPr lang="en-US" dirty="0"/>
              <a:t>Print the number and stop if it is in range.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F95056-5204-8686-4992-502097F5C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790" y="3459550"/>
            <a:ext cx="5497794" cy="1918006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9D5AEE-D845-27DE-8C49-19F310C1E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</a:t>
            </a:r>
          </a:p>
        </p:txBody>
      </p:sp>
    </p:spTree>
    <p:extLst>
      <p:ext uri="{BB962C8B-B14F-4D97-AF65-F5344CB8AC3E}">
        <p14:creationId xmlns:p14="http://schemas.microsoft.com/office/powerpoint/2010/main" val="30419255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9AF27-ADC2-1725-2C87-0E5DED4B8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vs do-while,  visualized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D216E6-F218-B850-60EB-475F49847B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4177" y="1963490"/>
            <a:ext cx="4438878" cy="379749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FF7599-D6A1-8304-3E27-30C89418B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201" y="1963490"/>
            <a:ext cx="4311872" cy="3626036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AF26E5-3E15-C34F-6007-96562E8D5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</a:t>
            </a:r>
          </a:p>
        </p:txBody>
      </p:sp>
    </p:spTree>
    <p:extLst>
      <p:ext uri="{BB962C8B-B14F-4D97-AF65-F5344CB8AC3E}">
        <p14:creationId xmlns:p14="http://schemas.microsoft.com/office/powerpoint/2010/main" val="66747927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C1895-2302-41E4-8C0D-610D10216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Jumps in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B9F74-A16C-C4FB-104C-35D174D53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Break</a:t>
            </a:r>
          </a:p>
          <a:p>
            <a:pPr lvl="1"/>
            <a:r>
              <a:rPr lang="en-US" dirty="0"/>
              <a:t>Jump to after the end of loop</a:t>
            </a:r>
          </a:p>
          <a:p>
            <a:pPr lvl="1"/>
            <a:r>
              <a:rPr lang="en-US" dirty="0"/>
              <a:t>Loop does not execute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Continue </a:t>
            </a:r>
          </a:p>
          <a:p>
            <a:pPr lvl="1"/>
            <a:r>
              <a:rPr lang="en-US" dirty="0"/>
              <a:t>Jump to the beginning of the loop</a:t>
            </a:r>
          </a:p>
          <a:p>
            <a:pPr lvl="1"/>
            <a:r>
              <a:rPr lang="en-US" dirty="0"/>
              <a:t>Loop continues to execute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4A46D-4943-A008-CC9A-E7252859E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0725" y="1457178"/>
            <a:ext cx="6331275" cy="17018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E834D4-412C-0A1B-D26B-9F55A8663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301" y="3742827"/>
            <a:ext cx="4597636" cy="2305168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E01874D-7BE1-0B74-BF62-3FA4C18DB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</a:t>
            </a:r>
          </a:p>
        </p:txBody>
      </p:sp>
    </p:spTree>
    <p:extLst>
      <p:ext uri="{BB962C8B-B14F-4D97-AF65-F5344CB8AC3E}">
        <p14:creationId xmlns:p14="http://schemas.microsoft.com/office/powerpoint/2010/main" val="7050379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875F9-759F-7174-95E2-D9BA9AFF9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Assignment 1: </a:t>
            </a:r>
            <a:br>
              <a:rPr lang="en-US" dirty="0"/>
            </a:br>
            <a:r>
              <a:rPr lang="en-US" dirty="0"/>
              <a:t>Create a </a:t>
            </a:r>
            <a:r>
              <a:rPr lang="en-US" b="1" dirty="0"/>
              <a:t>menu</a:t>
            </a:r>
            <a:r>
              <a:rPr lang="en-US" dirty="0"/>
              <a:t> driven </a:t>
            </a:r>
            <a:r>
              <a:rPr lang="en-US" b="1" dirty="0"/>
              <a:t>calculator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7622E-6574-1823-2F00-0EB8BA1CC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Enter 2 numbers </a:t>
            </a:r>
          </a:p>
          <a:p>
            <a:r>
              <a:rPr lang="en-US" dirty="0"/>
              <a:t>Get user option ( 0 to 5) repeatedly</a:t>
            </a:r>
          </a:p>
          <a:p>
            <a:pPr lvl="1"/>
            <a:r>
              <a:rPr lang="en-US" dirty="0"/>
              <a:t>1 </a:t>
            </a:r>
            <a:r>
              <a:rPr lang="en-US" dirty="0">
                <a:sym typeface="Wingdings" panose="05000000000000000000" pitchFamily="2" charset="2"/>
              </a:rPr>
              <a:t> add the two numbers and print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2  subtract 2</a:t>
            </a:r>
            <a:r>
              <a:rPr lang="en-US" baseline="30000" dirty="0">
                <a:sym typeface="Wingdings" panose="05000000000000000000" pitchFamily="2" charset="2"/>
              </a:rPr>
              <a:t>nd</a:t>
            </a:r>
            <a:r>
              <a:rPr lang="en-US" dirty="0">
                <a:sym typeface="Wingdings" panose="05000000000000000000" pitchFamily="2" charset="2"/>
              </a:rPr>
              <a:t> from first number and print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3  multiply the two numbers and print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4 divide 2</a:t>
            </a:r>
            <a:r>
              <a:rPr lang="en-US" baseline="30000" dirty="0">
                <a:sym typeface="Wingdings" panose="05000000000000000000" pitchFamily="2" charset="2"/>
              </a:rPr>
              <a:t>nd</a:t>
            </a:r>
            <a:r>
              <a:rPr lang="en-US" dirty="0">
                <a:sym typeface="Wingdings" panose="05000000000000000000" pitchFamily="2" charset="2"/>
              </a:rPr>
              <a:t> by first number and print</a:t>
            </a:r>
          </a:p>
          <a:p>
            <a:pPr lvl="1"/>
            <a:r>
              <a:rPr lang="en-US" b="1" dirty="0">
                <a:sym typeface="Wingdings" panose="05000000000000000000" pitchFamily="2" charset="2"/>
              </a:rPr>
              <a:t>5 do nothing , and restart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0 stop the loop</a:t>
            </a:r>
          </a:p>
          <a:p>
            <a:r>
              <a:rPr lang="en-US" dirty="0">
                <a:sym typeface="Wingdings" panose="05000000000000000000" pitchFamily="2" charset="2"/>
              </a:rPr>
              <a:t>Try using both loops and compare result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while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Do/while </a:t>
            </a:r>
          </a:p>
          <a:p>
            <a:r>
              <a:rPr lang="en-US" dirty="0">
                <a:sym typeface="Wingdings" panose="05000000000000000000" pitchFamily="2" charset="2"/>
              </a:rPr>
              <a:t>Use</a:t>
            </a:r>
            <a:r>
              <a:rPr lang="en-US" b="1" dirty="0">
                <a:sym typeface="Wingdings" panose="05000000000000000000" pitchFamily="2" charset="2"/>
              </a:rPr>
              <a:t> break </a:t>
            </a:r>
            <a:r>
              <a:rPr lang="en-US" dirty="0">
                <a:sym typeface="Wingdings" panose="05000000000000000000" pitchFamily="2" charset="2"/>
              </a:rPr>
              <a:t>and</a:t>
            </a:r>
            <a:r>
              <a:rPr lang="en-US" b="1" dirty="0">
                <a:sym typeface="Wingdings" panose="05000000000000000000" pitchFamily="2" charset="2"/>
              </a:rPr>
              <a:t> continue 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495384-3D5F-AD86-36ED-935E49FC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</a:t>
            </a:r>
          </a:p>
        </p:txBody>
      </p:sp>
    </p:spTree>
    <p:extLst>
      <p:ext uri="{BB962C8B-B14F-4D97-AF65-F5344CB8AC3E}">
        <p14:creationId xmlns:p14="http://schemas.microsoft.com/office/powerpoint/2010/main" val="42921285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DDDC4-7A06-DD30-C053-A3AC33917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Boss Assignment:</a:t>
            </a:r>
            <a:br>
              <a:rPr lang="en-US" dirty="0"/>
            </a:br>
            <a:r>
              <a:rPr lang="en-US" dirty="0"/>
              <a:t>Menu driven multi purpose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F33EC-AF7F-C6F8-7FE1-1774834BE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Create a multi purpose program running until user enters 0</a:t>
            </a:r>
          </a:p>
          <a:p>
            <a:r>
              <a:rPr lang="en-US" dirty="0"/>
              <a:t>Enter 2 numbers e.g. a, b;</a:t>
            </a:r>
          </a:p>
          <a:p>
            <a:r>
              <a:rPr lang="en-US" dirty="0"/>
              <a:t>Get user options repeatedly and perform the operation</a:t>
            </a:r>
          </a:p>
          <a:p>
            <a:pPr lvl="1"/>
            <a:r>
              <a:rPr lang="en-US" dirty="0"/>
              <a:t>1</a:t>
            </a:r>
            <a:r>
              <a:rPr lang="en-US" dirty="0">
                <a:sym typeface="Wingdings" panose="05000000000000000000" pitchFamily="2" charset="2"/>
              </a:rPr>
              <a:t>  find the least common multiple of 2 numbers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2  find the highest common factor of the 2 numbers</a:t>
            </a:r>
          </a:p>
          <a:p>
            <a:pPr lvl="1" algn="just"/>
            <a:r>
              <a:rPr lang="en-US" dirty="0">
                <a:sym typeface="Wingdings" panose="05000000000000000000" pitchFamily="2" charset="2"/>
              </a:rPr>
              <a:t>3  find ‘a’ raised to the power of ‘b’ using loops : a</a:t>
            </a:r>
            <a:r>
              <a:rPr lang="en-US" baseline="30000" dirty="0">
                <a:sym typeface="Wingdings" panose="05000000000000000000" pitchFamily="2" charset="2"/>
              </a:rPr>
              <a:t>b</a:t>
            </a:r>
            <a:endParaRPr lang="en-US" dirty="0">
              <a:sym typeface="Wingdings" panose="05000000000000000000" pitchFamily="2" charset="2"/>
            </a:endParaRPr>
          </a:p>
          <a:p>
            <a:pPr lvl="1" algn="just"/>
            <a:r>
              <a:rPr lang="en-US" dirty="0">
                <a:sym typeface="Wingdings" panose="05000000000000000000" pitchFamily="2" charset="2"/>
              </a:rPr>
              <a:t>4  find  1/a</a:t>
            </a:r>
            <a:r>
              <a:rPr lang="en-US" baseline="30000" dirty="0">
                <a:sym typeface="Wingdings" panose="05000000000000000000" pitchFamily="2" charset="2"/>
              </a:rPr>
              <a:t>b </a:t>
            </a:r>
            <a:r>
              <a:rPr lang="en-US" dirty="0">
                <a:sym typeface="Wingdings" panose="05000000000000000000" pitchFamily="2" charset="2"/>
              </a:rPr>
              <a:t>using loops</a:t>
            </a:r>
          </a:p>
          <a:p>
            <a:pPr lvl="1" algn="just"/>
            <a:r>
              <a:rPr lang="en-US" dirty="0">
                <a:sym typeface="Wingdings" panose="05000000000000000000" pitchFamily="2" charset="2"/>
              </a:rPr>
              <a:t>5  do something random from between 1 and 4 </a:t>
            </a:r>
          </a:p>
          <a:p>
            <a:pPr lvl="2" algn="just"/>
            <a:r>
              <a:rPr lang="en-US" dirty="0">
                <a:sym typeface="Wingdings" panose="05000000000000000000" pitchFamily="2" charset="2"/>
              </a:rPr>
              <a:t>#include&lt;cstdlib &gt;</a:t>
            </a:r>
          </a:p>
          <a:p>
            <a:pPr lvl="2" algn="just"/>
            <a:r>
              <a:rPr lang="en-US" dirty="0">
                <a:sym typeface="Wingdings" panose="05000000000000000000" pitchFamily="2" charset="2"/>
              </a:rPr>
              <a:t>int rand = 1+ rand()%4;</a:t>
            </a:r>
          </a:p>
          <a:p>
            <a:pPr lvl="1" algn="just"/>
            <a:r>
              <a:rPr lang="en-US" dirty="0">
                <a:sym typeface="Wingdings" panose="05000000000000000000" pitchFamily="2" charset="2"/>
              </a:rPr>
              <a:t>0  Exit the program</a:t>
            </a:r>
          </a:p>
          <a:p>
            <a:pPr lvl="1" algn="just"/>
            <a:endParaRPr lang="en-US" baseline="30000" dirty="0">
              <a:sym typeface="Wingdings" panose="05000000000000000000" pitchFamily="2" charset="2"/>
            </a:endParaRPr>
          </a:p>
          <a:p>
            <a:pPr marL="457200" lvl="1" indent="0" algn="just">
              <a:buNone/>
            </a:pPr>
            <a:endParaRPr lang="en-US" baseline="30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3BA2EC-BB6A-5D88-5CBF-B05F36535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</a:t>
            </a:r>
          </a:p>
        </p:txBody>
      </p:sp>
    </p:spTree>
    <p:extLst>
      <p:ext uri="{BB962C8B-B14F-4D97-AF65-F5344CB8AC3E}">
        <p14:creationId xmlns:p14="http://schemas.microsoft.com/office/powerpoint/2010/main" val="18625564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BA87D-1D70-78FE-25DC-A4EBD265B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Sequences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BA258-9060-08A8-D80A-3077DE67B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Game leaderboard</a:t>
            </a:r>
          </a:p>
          <a:p>
            <a:r>
              <a:rPr lang="en-US" dirty="0"/>
              <a:t>Scores per test </a:t>
            </a:r>
          </a:p>
          <a:p>
            <a:r>
              <a:rPr lang="en-US" dirty="0"/>
              <a:t>Temperature per hour of day</a:t>
            </a:r>
          </a:p>
          <a:p>
            <a:r>
              <a:rPr lang="en-US" dirty="0"/>
              <a:t>…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CA5CA1-8045-4107-1F48-A285FED4B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8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941CD-62F3-99C5-F1B5-41C2D0571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0320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8E8C3-0036-E4B6-B5BC-68B4D8B6C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of data types :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3191C-E247-FDFE-C8AA-BEC5A5DBB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 days[7];</a:t>
            </a:r>
          </a:p>
          <a:p>
            <a:pPr lvl="1"/>
            <a:r>
              <a:rPr lang="en-US" dirty="0"/>
              <a:t>Variables ‘days’</a:t>
            </a:r>
          </a:p>
          <a:p>
            <a:pPr lvl="1"/>
            <a:r>
              <a:rPr lang="en-US" dirty="0"/>
              <a:t>Memory locations : 7 x </a:t>
            </a:r>
            <a:r>
              <a:rPr lang="en-US" dirty="0" err="1"/>
              <a:t>sizeof</a:t>
            </a:r>
            <a:r>
              <a:rPr lang="en-US" dirty="0"/>
              <a:t>(int) = ?</a:t>
            </a:r>
          </a:p>
          <a:p>
            <a:pPr lvl="1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: day[0];</a:t>
            </a:r>
          </a:p>
          <a:p>
            <a:pPr lvl="1"/>
            <a:r>
              <a:rPr lang="en-US" dirty="0"/>
              <a:t>7</a:t>
            </a:r>
            <a:r>
              <a:rPr lang="en-US" baseline="30000" dirty="0"/>
              <a:t>th</a:t>
            </a:r>
            <a:r>
              <a:rPr lang="en-US" dirty="0"/>
              <a:t> : day [?]</a:t>
            </a:r>
          </a:p>
          <a:p>
            <a:r>
              <a:rPr lang="en-US" dirty="0"/>
              <a:t>float avg[12]</a:t>
            </a:r>
          </a:p>
          <a:p>
            <a:pPr lvl="1"/>
            <a:r>
              <a:rPr lang="en-US" dirty="0"/>
              <a:t>Variable ‘avg’</a:t>
            </a:r>
          </a:p>
          <a:p>
            <a:pPr lvl="1"/>
            <a:r>
              <a:rPr lang="en-US" dirty="0"/>
              <a:t>Memory locations : 12 x </a:t>
            </a:r>
            <a:r>
              <a:rPr lang="en-US" dirty="0" err="1"/>
              <a:t>sizeof</a:t>
            </a:r>
            <a:r>
              <a:rPr lang="en-US" dirty="0"/>
              <a:t>(int) = ?</a:t>
            </a:r>
          </a:p>
          <a:p>
            <a:pPr lvl="1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: ?</a:t>
            </a:r>
          </a:p>
          <a:p>
            <a:pPr lvl="1"/>
            <a:r>
              <a:rPr lang="en-US" dirty="0"/>
              <a:t>12</a:t>
            </a:r>
            <a:r>
              <a:rPr lang="en-US" baseline="30000" dirty="0"/>
              <a:t>th</a:t>
            </a:r>
            <a:r>
              <a:rPr lang="en-US" dirty="0"/>
              <a:t> : ?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F5625D-6279-11E4-45A4-D46C675C8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8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92E159-3298-370B-C8EE-71EA916EC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6129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7C0AE-61CB-CB30-03D8-ACC2E0C8A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9B108-20A2-AC8F-9F7A-13126FC8C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int days[7];</a:t>
            </a:r>
          </a:p>
          <a:p>
            <a:pPr lvl="1"/>
            <a:r>
              <a:rPr lang="en-US" dirty="0"/>
              <a:t>one dimensional array </a:t>
            </a:r>
          </a:p>
          <a:p>
            <a:pPr lvl="1"/>
            <a:r>
              <a:rPr lang="en-US" dirty="0"/>
              <a:t>[ ] square backets require a constant value</a:t>
            </a:r>
          </a:p>
          <a:p>
            <a:pPr lvl="1"/>
            <a:r>
              <a:rPr lang="en-US" dirty="0"/>
              <a:t>Index starts from 0 </a:t>
            </a:r>
          </a:p>
          <a:p>
            <a:pPr lvl="1"/>
            <a:r>
              <a:rPr lang="en-US" dirty="0"/>
              <a:t>Access nth value using days[n];</a:t>
            </a:r>
          </a:p>
          <a:p>
            <a:pPr lvl="1"/>
            <a:r>
              <a:rPr lang="en-US" dirty="0"/>
              <a:t>Initialization</a:t>
            </a:r>
          </a:p>
          <a:p>
            <a:pPr lvl="2"/>
            <a:r>
              <a:rPr lang="en-US" dirty="0"/>
              <a:t>Option 1 </a:t>
            </a:r>
          </a:p>
          <a:p>
            <a:pPr lvl="3"/>
            <a:r>
              <a:rPr lang="en-US" dirty="0"/>
              <a:t>int days[7] = {1,2,3,4,5,6,7};</a:t>
            </a:r>
          </a:p>
          <a:p>
            <a:pPr lvl="2"/>
            <a:r>
              <a:rPr lang="en-US" dirty="0"/>
              <a:t>Option 2 : omit the size</a:t>
            </a:r>
          </a:p>
          <a:p>
            <a:pPr lvl="3"/>
            <a:r>
              <a:rPr lang="en-US" dirty="0"/>
              <a:t>int days[  ] =  {1,2,3,4,5,6,7};</a:t>
            </a:r>
          </a:p>
          <a:p>
            <a:pPr lvl="2"/>
            <a:r>
              <a:rPr lang="en-US" dirty="0"/>
              <a:t>Or GIGO ??</a:t>
            </a:r>
          </a:p>
          <a:p>
            <a:r>
              <a:rPr lang="en-US" dirty="0"/>
              <a:t>* Array size is constant, cant change after creation.</a:t>
            </a:r>
          </a:p>
          <a:p>
            <a:pPr lvl="3"/>
            <a:endParaRPr lang="en-US" dirty="0"/>
          </a:p>
          <a:p>
            <a:pPr lvl="2"/>
            <a:endParaRPr lang="en-US" dirty="0"/>
          </a:p>
          <a:p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2C496D-8898-51D9-3B81-776102C09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8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680A94-A6A9-9512-E15E-F959BFB1C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83082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6B238-15D7-0DF5-DB58-F44C964BD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D8E67-8D03-B14F-FD39-CFA6310CB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 days[7]  = {1,2,3,4,5,6,7};</a:t>
            </a:r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Layout is Sequential </a:t>
            </a:r>
          </a:p>
          <a:p>
            <a:pPr lvl="2"/>
            <a:r>
              <a:rPr lang="en-US" dirty="0"/>
              <a:t>Next number is right after the previous … all the way to end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Caution </a:t>
            </a:r>
          </a:p>
          <a:p>
            <a:pPr lvl="2"/>
            <a:r>
              <a:rPr lang="en-US" dirty="0"/>
              <a:t>Do not go beyond the bound of array … that is GIGO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9398DC-4BD3-2122-8E0F-F2E376FFFB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86069"/>
              </p:ext>
            </p:extLst>
          </p:nvPr>
        </p:nvGraphicFramePr>
        <p:xfrm>
          <a:off x="1353576" y="2722131"/>
          <a:ext cx="311308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726">
                  <a:extLst>
                    <a:ext uri="{9D8B030D-6E8A-4147-A177-3AD203B41FA5}">
                      <a16:colId xmlns:a16="http://schemas.microsoft.com/office/drawing/2014/main" val="3537882725"/>
                    </a:ext>
                  </a:extLst>
                </a:gridCol>
                <a:gridCol w="444726">
                  <a:extLst>
                    <a:ext uri="{9D8B030D-6E8A-4147-A177-3AD203B41FA5}">
                      <a16:colId xmlns:a16="http://schemas.microsoft.com/office/drawing/2014/main" val="2096251874"/>
                    </a:ext>
                  </a:extLst>
                </a:gridCol>
                <a:gridCol w="444726">
                  <a:extLst>
                    <a:ext uri="{9D8B030D-6E8A-4147-A177-3AD203B41FA5}">
                      <a16:colId xmlns:a16="http://schemas.microsoft.com/office/drawing/2014/main" val="2477420844"/>
                    </a:ext>
                  </a:extLst>
                </a:gridCol>
                <a:gridCol w="444726">
                  <a:extLst>
                    <a:ext uri="{9D8B030D-6E8A-4147-A177-3AD203B41FA5}">
                      <a16:colId xmlns:a16="http://schemas.microsoft.com/office/drawing/2014/main" val="353016836"/>
                    </a:ext>
                  </a:extLst>
                </a:gridCol>
                <a:gridCol w="444726">
                  <a:extLst>
                    <a:ext uri="{9D8B030D-6E8A-4147-A177-3AD203B41FA5}">
                      <a16:colId xmlns:a16="http://schemas.microsoft.com/office/drawing/2014/main" val="4000073041"/>
                    </a:ext>
                  </a:extLst>
                </a:gridCol>
                <a:gridCol w="444726">
                  <a:extLst>
                    <a:ext uri="{9D8B030D-6E8A-4147-A177-3AD203B41FA5}">
                      <a16:colId xmlns:a16="http://schemas.microsoft.com/office/drawing/2014/main" val="54443186"/>
                    </a:ext>
                  </a:extLst>
                </a:gridCol>
                <a:gridCol w="444726">
                  <a:extLst>
                    <a:ext uri="{9D8B030D-6E8A-4147-A177-3AD203B41FA5}">
                      <a16:colId xmlns:a16="http://schemas.microsoft.com/office/drawing/2014/main" val="2609842276"/>
                    </a:ext>
                  </a:extLst>
                </a:gridCol>
              </a:tblGrid>
              <a:tr h="1592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18726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57BD70C-8034-9C89-3269-F0F579A2D9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2952606"/>
              </p:ext>
            </p:extLst>
          </p:nvPr>
        </p:nvGraphicFramePr>
        <p:xfrm>
          <a:off x="1353576" y="2351291"/>
          <a:ext cx="311308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726">
                  <a:extLst>
                    <a:ext uri="{9D8B030D-6E8A-4147-A177-3AD203B41FA5}">
                      <a16:colId xmlns:a16="http://schemas.microsoft.com/office/drawing/2014/main" val="163348864"/>
                    </a:ext>
                  </a:extLst>
                </a:gridCol>
                <a:gridCol w="444726">
                  <a:extLst>
                    <a:ext uri="{9D8B030D-6E8A-4147-A177-3AD203B41FA5}">
                      <a16:colId xmlns:a16="http://schemas.microsoft.com/office/drawing/2014/main" val="993047331"/>
                    </a:ext>
                  </a:extLst>
                </a:gridCol>
                <a:gridCol w="444726">
                  <a:extLst>
                    <a:ext uri="{9D8B030D-6E8A-4147-A177-3AD203B41FA5}">
                      <a16:colId xmlns:a16="http://schemas.microsoft.com/office/drawing/2014/main" val="4148684831"/>
                    </a:ext>
                  </a:extLst>
                </a:gridCol>
                <a:gridCol w="444726">
                  <a:extLst>
                    <a:ext uri="{9D8B030D-6E8A-4147-A177-3AD203B41FA5}">
                      <a16:colId xmlns:a16="http://schemas.microsoft.com/office/drawing/2014/main" val="3952030039"/>
                    </a:ext>
                  </a:extLst>
                </a:gridCol>
                <a:gridCol w="444726">
                  <a:extLst>
                    <a:ext uri="{9D8B030D-6E8A-4147-A177-3AD203B41FA5}">
                      <a16:colId xmlns:a16="http://schemas.microsoft.com/office/drawing/2014/main" val="897148073"/>
                    </a:ext>
                  </a:extLst>
                </a:gridCol>
                <a:gridCol w="444726">
                  <a:extLst>
                    <a:ext uri="{9D8B030D-6E8A-4147-A177-3AD203B41FA5}">
                      <a16:colId xmlns:a16="http://schemas.microsoft.com/office/drawing/2014/main" val="2995066305"/>
                    </a:ext>
                  </a:extLst>
                </a:gridCol>
                <a:gridCol w="444726">
                  <a:extLst>
                    <a:ext uri="{9D8B030D-6E8A-4147-A177-3AD203B41FA5}">
                      <a16:colId xmlns:a16="http://schemas.microsoft.com/office/drawing/2014/main" val="4218743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5591836"/>
                  </a:ext>
                </a:extLst>
              </a:tr>
            </a:tbl>
          </a:graphicData>
        </a:graphic>
      </p:graphicFrame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4A4C86-6B2D-09A0-4DE8-AD33612D4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8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E893C4-46F0-E43D-7309-BC3BE75E8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1693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EBA33-121D-5E84-2792-B0DCDD203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4E5FB-3099-78F2-6E43-9AB8FA3B0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Q1:average of 5 numbers</a:t>
            </a:r>
          </a:p>
          <a:p>
            <a:pPr lvl="1"/>
            <a:r>
              <a:rPr lang="en-US" dirty="0"/>
              <a:t>Get 5 numbers from user </a:t>
            </a:r>
          </a:p>
          <a:p>
            <a:pPr lvl="2"/>
            <a:r>
              <a:rPr lang="en-US" dirty="0"/>
              <a:t>Print the average of the 5 numbers</a:t>
            </a:r>
          </a:p>
          <a:p>
            <a:pPr lvl="2"/>
            <a:r>
              <a:rPr lang="en-US" dirty="0"/>
              <a:t>Hints</a:t>
            </a:r>
          </a:p>
          <a:p>
            <a:pPr lvl="3"/>
            <a:r>
              <a:rPr lang="en-US" dirty="0" err="1"/>
              <a:t>cin</a:t>
            </a:r>
            <a:r>
              <a:rPr lang="en-US" dirty="0"/>
              <a:t>&gt;&gt;num[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pPr lvl="3"/>
            <a:r>
              <a:rPr lang="en-US" dirty="0"/>
              <a:t>sum = sum + num[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pPr lvl="3"/>
            <a:r>
              <a:rPr lang="en-US" dirty="0"/>
              <a:t>loops</a:t>
            </a:r>
          </a:p>
          <a:p>
            <a:pPr lvl="2"/>
            <a:r>
              <a:rPr lang="en-US" dirty="0"/>
              <a:t>* Consider the right data type for average…</a:t>
            </a:r>
          </a:p>
          <a:p>
            <a:r>
              <a:rPr lang="en-US" dirty="0"/>
              <a:t>Q2 : search whether a number exists in above array </a:t>
            </a:r>
          </a:p>
          <a:p>
            <a:pPr lvl="1"/>
            <a:r>
              <a:rPr lang="en-US" dirty="0"/>
              <a:t>(After printing average In the above entered numbers )</a:t>
            </a:r>
          </a:p>
          <a:p>
            <a:pPr lvl="1"/>
            <a:r>
              <a:rPr lang="en-US" dirty="0"/>
              <a:t>Get user to enter a search num </a:t>
            </a:r>
          </a:p>
          <a:p>
            <a:pPr lvl="1"/>
            <a:r>
              <a:rPr lang="en-US" dirty="0"/>
              <a:t>Return at what index location it exists in the array.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AD5227-5900-5EB0-C79F-3D89B24F3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8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2AD682-58DA-C97B-7528-0131668F9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360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941D1-AE79-0E37-8933-B650171AF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 are sequence of characters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8EEE2-73BD-6E50-9DEF-FC96FB8C7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char name[100];</a:t>
            </a:r>
          </a:p>
          <a:p>
            <a:r>
              <a:rPr lang="en-US" dirty="0"/>
              <a:t>Characters arrays are </a:t>
            </a:r>
            <a:r>
              <a:rPr lang="en-US" b="1" dirty="0"/>
              <a:t>‘null’</a:t>
            </a:r>
            <a:r>
              <a:rPr lang="en-US" dirty="0"/>
              <a:t> terminated</a:t>
            </a:r>
          </a:p>
          <a:p>
            <a:pPr lvl="1"/>
            <a:r>
              <a:rPr lang="en-US" dirty="0" err="1"/>
              <a:t>E.g</a:t>
            </a:r>
            <a:r>
              <a:rPr lang="en-US" dirty="0"/>
              <a:t> name = “ChatGPT”;</a:t>
            </a:r>
          </a:p>
          <a:p>
            <a:pPr lvl="1"/>
            <a:r>
              <a:rPr lang="en-US" dirty="0"/>
              <a:t>if (name[7]== ‘\0’) would be true. </a:t>
            </a:r>
          </a:p>
          <a:p>
            <a:r>
              <a:rPr lang="en-US" dirty="0"/>
              <a:t>So if names are array of chars…</a:t>
            </a:r>
          </a:p>
          <a:p>
            <a:pPr lvl="1"/>
            <a:r>
              <a:rPr lang="en-US" dirty="0"/>
              <a:t>What is array of names ??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6F3241-B9DB-8500-D573-C1F193806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8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35CD53-FEDB-81A6-5896-F38321D41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74460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1C272-8E9B-4F64-9D95-1BAFBDB31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dimension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AB157-A403-25FE-0545-667A93803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 </a:t>
            </a:r>
            <a:r>
              <a:rPr lang="en-US" dirty="0" err="1"/>
              <a:t>nums</a:t>
            </a:r>
            <a:r>
              <a:rPr lang="en-US" dirty="0"/>
              <a:t>[5][3] ;</a:t>
            </a:r>
          </a:p>
          <a:p>
            <a:pPr lvl="1"/>
            <a:r>
              <a:rPr lang="en-US" dirty="0"/>
              <a:t>5 row of 3 integers each </a:t>
            </a:r>
          </a:p>
          <a:p>
            <a:pPr lvl="1"/>
            <a:r>
              <a:rPr lang="en-US" dirty="0"/>
              <a:t>5 x 3 = 15 total integers</a:t>
            </a:r>
          </a:p>
          <a:p>
            <a:r>
              <a:rPr lang="en-US" dirty="0"/>
              <a:t>char names[15][100];</a:t>
            </a:r>
          </a:p>
          <a:p>
            <a:pPr lvl="1"/>
            <a:r>
              <a:rPr lang="en-US" dirty="0"/>
              <a:t>15 names … max size of 100 each. </a:t>
            </a:r>
          </a:p>
          <a:p>
            <a:pPr lvl="1"/>
            <a:r>
              <a:rPr lang="en-US" dirty="0"/>
              <a:t>15 x 100 = 1500 characters</a:t>
            </a:r>
          </a:p>
          <a:p>
            <a:r>
              <a:rPr lang="en-US" dirty="0"/>
              <a:t>How to create 10 rows of 100 floats each ?</a:t>
            </a:r>
          </a:p>
          <a:p>
            <a:pPr lvl="1"/>
            <a:r>
              <a:rPr lang="en-US" dirty="0"/>
              <a:t>What is the total number of floats used ?</a:t>
            </a:r>
          </a:p>
          <a:p>
            <a:pPr lvl="1"/>
            <a:r>
              <a:rPr lang="en-US" dirty="0"/>
              <a:t>What is the total memory size.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B9ECF-7CAF-F5DA-E6B9-79B639400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8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74AA82-234C-569C-6B4E-A744342D3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88119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0239E-4125-B7AD-6D55-FC30CD639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layout : double dimension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7F06E-E5D7-EC84-0429-98A456427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704" y="1825625"/>
            <a:ext cx="10515600" cy="4351338"/>
          </a:xfrm>
        </p:spPr>
        <p:txBody>
          <a:bodyPr/>
          <a:lstStyle/>
          <a:p>
            <a:r>
              <a:rPr lang="en-US" dirty="0"/>
              <a:t>int </a:t>
            </a:r>
            <a:r>
              <a:rPr lang="en-US" dirty="0" err="1"/>
              <a:t>nums</a:t>
            </a:r>
            <a:r>
              <a:rPr lang="en-US" dirty="0"/>
              <a:t>[5][3] ;</a:t>
            </a:r>
          </a:p>
          <a:p>
            <a:pPr lvl="1"/>
            <a:r>
              <a:rPr lang="en-US" dirty="0"/>
              <a:t>2 dimension = 2d Matrix </a:t>
            </a:r>
          </a:p>
          <a:p>
            <a:pPr lvl="1"/>
            <a:r>
              <a:rPr lang="en-US" dirty="0"/>
              <a:t>Rows are horizontal</a:t>
            </a:r>
          </a:p>
          <a:p>
            <a:pPr lvl="1"/>
            <a:r>
              <a:rPr lang="en-US" dirty="0"/>
              <a:t>Columns are vertical </a:t>
            </a:r>
          </a:p>
          <a:p>
            <a:pPr lvl="1"/>
            <a:r>
              <a:rPr lang="en-US" dirty="0"/>
              <a:t>Total 5x3 = 5 cells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4C41612-4D6D-6719-E5EE-FA25938632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368292"/>
              </p:ext>
            </p:extLst>
          </p:nvPr>
        </p:nvGraphicFramePr>
        <p:xfrm>
          <a:off x="6412974" y="2788655"/>
          <a:ext cx="1920567" cy="18795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189">
                  <a:extLst>
                    <a:ext uri="{9D8B030D-6E8A-4147-A177-3AD203B41FA5}">
                      <a16:colId xmlns:a16="http://schemas.microsoft.com/office/drawing/2014/main" val="667305362"/>
                    </a:ext>
                  </a:extLst>
                </a:gridCol>
                <a:gridCol w="640189">
                  <a:extLst>
                    <a:ext uri="{9D8B030D-6E8A-4147-A177-3AD203B41FA5}">
                      <a16:colId xmlns:a16="http://schemas.microsoft.com/office/drawing/2014/main" val="3266066857"/>
                    </a:ext>
                  </a:extLst>
                </a:gridCol>
                <a:gridCol w="640189">
                  <a:extLst>
                    <a:ext uri="{9D8B030D-6E8A-4147-A177-3AD203B41FA5}">
                      <a16:colId xmlns:a16="http://schemas.microsoft.com/office/drawing/2014/main" val="3298742964"/>
                    </a:ext>
                  </a:extLst>
                </a:gridCol>
              </a:tblGrid>
              <a:tr h="37177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759530"/>
                  </a:ext>
                </a:extLst>
              </a:tr>
              <a:tr h="37693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070608"/>
                  </a:ext>
                </a:extLst>
              </a:tr>
              <a:tr h="3769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57809"/>
                  </a:ext>
                </a:extLst>
              </a:tr>
              <a:tr h="3769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2108"/>
                  </a:ext>
                </a:extLst>
              </a:tr>
              <a:tr h="3769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93882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407E39-5CE3-E51D-5CF1-F590D9F544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017638"/>
              </p:ext>
            </p:extLst>
          </p:nvPr>
        </p:nvGraphicFramePr>
        <p:xfrm>
          <a:off x="5653547" y="2766703"/>
          <a:ext cx="589761" cy="18761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9761">
                  <a:extLst>
                    <a:ext uri="{9D8B030D-6E8A-4147-A177-3AD203B41FA5}">
                      <a16:colId xmlns:a16="http://schemas.microsoft.com/office/drawing/2014/main" val="1096332463"/>
                    </a:ext>
                  </a:extLst>
                </a:gridCol>
              </a:tblGrid>
              <a:tr h="3752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221590"/>
                  </a:ext>
                </a:extLst>
              </a:tr>
              <a:tr h="3752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228234"/>
                  </a:ext>
                </a:extLst>
              </a:tr>
              <a:tr h="3752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367690"/>
                  </a:ext>
                </a:extLst>
              </a:tr>
              <a:tr h="3752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000108"/>
                  </a:ext>
                </a:extLst>
              </a:tr>
              <a:tr h="3752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15054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E485088-0801-B340-EC49-5EF015777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673760"/>
              </p:ext>
            </p:extLst>
          </p:nvPr>
        </p:nvGraphicFramePr>
        <p:xfrm>
          <a:off x="6412974" y="2282878"/>
          <a:ext cx="1920567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189">
                  <a:extLst>
                    <a:ext uri="{9D8B030D-6E8A-4147-A177-3AD203B41FA5}">
                      <a16:colId xmlns:a16="http://schemas.microsoft.com/office/drawing/2014/main" val="333275768"/>
                    </a:ext>
                  </a:extLst>
                </a:gridCol>
                <a:gridCol w="640189">
                  <a:extLst>
                    <a:ext uri="{9D8B030D-6E8A-4147-A177-3AD203B41FA5}">
                      <a16:colId xmlns:a16="http://schemas.microsoft.com/office/drawing/2014/main" val="1174786515"/>
                    </a:ext>
                  </a:extLst>
                </a:gridCol>
                <a:gridCol w="640189">
                  <a:extLst>
                    <a:ext uri="{9D8B030D-6E8A-4147-A177-3AD203B41FA5}">
                      <a16:colId xmlns:a16="http://schemas.microsoft.com/office/drawing/2014/main" val="33536133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595280"/>
                  </a:ext>
                </a:extLst>
              </a:tr>
            </a:tbl>
          </a:graphicData>
        </a:graphic>
      </p:graphicFrame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10DD5F-25FA-929F-E33E-DCFB9CE25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8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746F0A-63DE-6EDE-2432-1E478BC0E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61484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DD671-06F7-8F13-7B7C-A47B9A0FB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F11D8-5259-DABE-6C3A-D7FFB0B81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052"/>
            <a:ext cx="10515600" cy="4351338"/>
          </a:xfrm>
        </p:spPr>
        <p:txBody>
          <a:bodyPr/>
          <a:lstStyle/>
          <a:p>
            <a:r>
              <a:rPr lang="en-US" dirty="0"/>
              <a:t>Get 5 numbers  from user</a:t>
            </a:r>
          </a:p>
          <a:p>
            <a:pPr lvl="1"/>
            <a:r>
              <a:rPr lang="en-US" dirty="0"/>
              <a:t>Print the highest number from the five.</a:t>
            </a:r>
          </a:p>
          <a:p>
            <a:pPr lvl="1"/>
            <a:r>
              <a:rPr lang="en-US" dirty="0"/>
              <a:t>E.g. user enters 5,6,2,3,7</a:t>
            </a:r>
          </a:p>
          <a:p>
            <a:pPr lvl="1"/>
            <a:r>
              <a:rPr lang="en-US" dirty="0"/>
              <a:t>Print </a:t>
            </a:r>
          </a:p>
          <a:p>
            <a:pPr lvl="2"/>
            <a:r>
              <a:rPr lang="en-US" dirty="0"/>
              <a:t>The highest number is : 7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F01011-0ADC-E95F-52D7-8EAC1C24A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8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AD4B1A-BAF2-A5D3-B5B9-2FCDB44B3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78323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BF889-A300-F262-D830-21E1F33EB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Boss :Assignment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C181A-D2A2-CFB5-2B73-8E9EBE5D7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5 numbers from user</a:t>
            </a:r>
          </a:p>
          <a:p>
            <a:pPr lvl="1"/>
            <a:r>
              <a:rPr lang="en-US" dirty="0"/>
              <a:t>Print all the numbers in sorted order</a:t>
            </a:r>
          </a:p>
          <a:p>
            <a:pPr lvl="1"/>
            <a:r>
              <a:rPr lang="en-US" dirty="0"/>
              <a:t>E.g. user enters 5,6,2,3,7</a:t>
            </a:r>
          </a:p>
          <a:p>
            <a:pPr lvl="1"/>
            <a:r>
              <a:rPr lang="en-US" dirty="0"/>
              <a:t>Print </a:t>
            </a:r>
          </a:p>
          <a:p>
            <a:pPr lvl="2"/>
            <a:r>
              <a:rPr lang="en-US" dirty="0"/>
              <a:t>2,3,5,6,7</a:t>
            </a:r>
          </a:p>
          <a:p>
            <a:r>
              <a:rPr lang="en-US" dirty="0"/>
              <a:t>Hint </a:t>
            </a:r>
          </a:p>
          <a:p>
            <a:pPr lvl="1"/>
            <a:r>
              <a:rPr lang="en-US" dirty="0"/>
              <a:t>* would need multiple loops </a:t>
            </a:r>
          </a:p>
          <a:p>
            <a:pPr lvl="1"/>
            <a:r>
              <a:rPr lang="en-US" dirty="0"/>
              <a:t>* may need to know how to SORT data</a:t>
            </a:r>
          </a:p>
          <a:p>
            <a:pPr lvl="2"/>
            <a:r>
              <a:rPr lang="en-US" i="1" dirty="0"/>
              <a:t>Sorts have not been taught ,do the best you can.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5962AF-2088-57A9-C2EE-0E98F2C46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8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13F6CF-4B48-9E81-1DFF-BDA7415AA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4385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FA5A9-9576-AB4A-CB03-55BD6F746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Reuse, organize, simplify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3F512-EEB2-36DB-D0D3-42D379DB4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would you …</a:t>
            </a:r>
          </a:p>
          <a:p>
            <a:pPr lvl="1"/>
            <a:r>
              <a:rPr lang="en-US" dirty="0"/>
              <a:t>Reuse the functionality that you have already implemented ?</a:t>
            </a:r>
          </a:p>
          <a:p>
            <a:pPr lvl="1"/>
            <a:r>
              <a:rPr lang="en-US" dirty="0"/>
              <a:t>Simplify your code that you can work on it independently</a:t>
            </a:r>
          </a:p>
          <a:p>
            <a:pPr lvl="1"/>
            <a:r>
              <a:rPr lang="en-US" dirty="0"/>
              <a:t>Organize your code for easy readability / maintainability …</a:t>
            </a:r>
          </a:p>
          <a:p>
            <a:r>
              <a:rPr lang="en-US" dirty="0"/>
              <a:t>Best programming Tool</a:t>
            </a:r>
          </a:p>
          <a:p>
            <a:pPr lvl="1"/>
            <a:r>
              <a:rPr lang="en-US" dirty="0"/>
              <a:t>Functions</a:t>
            </a:r>
          </a:p>
          <a:p>
            <a:r>
              <a:rPr lang="en-US" dirty="0"/>
              <a:t>Best Principle </a:t>
            </a:r>
          </a:p>
          <a:p>
            <a:pPr lvl="1"/>
            <a:r>
              <a:rPr lang="en-US" dirty="0"/>
              <a:t> DRY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b="1" dirty="0">
                <a:sym typeface="Wingdings" panose="05000000000000000000" pitchFamily="2" charset="2"/>
              </a:rPr>
              <a:t>D</a:t>
            </a:r>
            <a:r>
              <a:rPr lang="en-US" dirty="0">
                <a:sym typeface="Wingdings" panose="05000000000000000000" pitchFamily="2" charset="2"/>
              </a:rPr>
              <a:t>on’t </a:t>
            </a:r>
            <a:r>
              <a:rPr lang="en-US" b="1" dirty="0">
                <a:sym typeface="Wingdings" panose="05000000000000000000" pitchFamily="2" charset="2"/>
              </a:rPr>
              <a:t>R</a:t>
            </a:r>
            <a:r>
              <a:rPr lang="en-US" dirty="0">
                <a:sym typeface="Wingdings" panose="05000000000000000000" pitchFamily="2" charset="2"/>
              </a:rPr>
              <a:t>epeat </a:t>
            </a:r>
            <a:r>
              <a:rPr lang="en-US" b="1" dirty="0">
                <a:sym typeface="Wingdings" panose="05000000000000000000" pitchFamily="2" charset="2"/>
              </a:rPr>
              <a:t>Y</a:t>
            </a:r>
            <a:r>
              <a:rPr lang="en-US" dirty="0">
                <a:sym typeface="Wingdings" panose="05000000000000000000" pitchFamily="2" charset="2"/>
              </a:rPr>
              <a:t>ourself ( i.e. in code )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F5C9A0-0820-64A0-E1A9-B4B82F6F6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EE51A6-B2A3-1AA5-D2C8-AF9C35148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876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2CA2E-7E6C-8F4B-A3E6-3AF862782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: Need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E4AD69-A5F6-AC69-82E4-4B41CEA9D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7197"/>
            <a:ext cx="10515600" cy="4351338"/>
          </a:xfrm>
        </p:spPr>
        <p:txBody>
          <a:bodyPr/>
          <a:lstStyle/>
          <a:p>
            <a:r>
              <a:rPr lang="en-US" dirty="0"/>
              <a:t>How to do you make spaghetti ?</a:t>
            </a:r>
          </a:p>
          <a:p>
            <a:pPr lvl="1"/>
            <a:r>
              <a:rPr lang="en-US" dirty="0"/>
              <a:t>Write a big enough program</a:t>
            </a:r>
          </a:p>
          <a:p>
            <a:r>
              <a:rPr lang="en-US" dirty="0"/>
              <a:t>Who/what is most popular in C/C++</a:t>
            </a:r>
          </a:p>
          <a:p>
            <a:pPr lvl="1"/>
            <a:r>
              <a:rPr lang="en-US" dirty="0"/>
              <a:t>The main function </a:t>
            </a:r>
            <a:endParaRPr lang="en-US" dirty="0">
              <a:sym typeface="Wingdings" panose="05000000000000000000" pitchFamily="2" charset="2"/>
            </a:endParaRPr>
          </a:p>
          <a:p>
            <a:pPr lvl="2"/>
            <a:r>
              <a:rPr lang="en-US" dirty="0">
                <a:sym typeface="Wingdings" panose="05000000000000000000" pitchFamily="2" charset="2"/>
              </a:rPr>
              <a:t>Nothing happens without the main …</a:t>
            </a:r>
          </a:p>
          <a:p>
            <a:r>
              <a:rPr lang="en-US" dirty="0">
                <a:sym typeface="Wingdings" panose="05000000000000000000" pitchFamily="2" charset="2"/>
              </a:rPr>
              <a:t>Principle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Make spaghetti to eat but not in code.</a:t>
            </a:r>
          </a:p>
          <a:p>
            <a:pPr lvl="1"/>
            <a:r>
              <a:rPr lang="en-US" dirty="0"/>
              <a:t>Write a function , and it will be popular.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00CA94-8BA9-7ED7-7F11-232DCD64D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1765" y="429810"/>
            <a:ext cx="3728705" cy="630029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2E0A05-1E99-C1A8-9341-71FC39708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A2B2F-A8DC-02CA-F24C-0F0868B58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41675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479A6-B2F6-63BE-7632-FFCE50553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: How 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D8E4A-221F-917E-AE7F-709B0ABC7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function</a:t>
            </a:r>
          </a:p>
          <a:p>
            <a:pPr lvl="1"/>
            <a:r>
              <a:rPr lang="en-US" b="1" dirty="0"/>
              <a:t>O</a:t>
            </a:r>
            <a:r>
              <a:rPr lang="en-US" b="1"/>
              <a:t>nce</a:t>
            </a:r>
            <a:endParaRPr lang="en-US" b="1" dirty="0"/>
          </a:p>
          <a:p>
            <a:r>
              <a:rPr lang="en-US" dirty="0"/>
              <a:t>Use a function  </a:t>
            </a:r>
          </a:p>
          <a:p>
            <a:pPr lvl="1"/>
            <a:r>
              <a:rPr lang="en-US" b="1" dirty="0"/>
              <a:t>Many</a:t>
            </a:r>
            <a:r>
              <a:rPr lang="en-US" dirty="0"/>
              <a:t> times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6FA356-CBBC-36C5-E1CE-992DBA2A3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298" y="2130137"/>
            <a:ext cx="3559318" cy="338549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E7434D-D8EC-2711-BCC0-55D6E4098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92192-A5E3-508C-2A08-E16AB96E3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80208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A488D-B992-BF69-8EA8-7EA1CEF42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: lets revisit calculator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C5F2D-3ABD-66A7-9E93-08D2E3174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calculator </a:t>
            </a:r>
          </a:p>
          <a:p>
            <a:pPr lvl="1"/>
            <a:r>
              <a:rPr lang="en-US" dirty="0"/>
              <a:t>Take 2 numbers from user  ( x, y)</a:t>
            </a:r>
          </a:p>
          <a:p>
            <a:pPr lvl="1"/>
            <a:r>
              <a:rPr lang="en-US" dirty="0"/>
              <a:t>Take options 1 to 4 from user </a:t>
            </a:r>
          </a:p>
          <a:p>
            <a:pPr lvl="2"/>
            <a:r>
              <a:rPr lang="en-US" dirty="0"/>
              <a:t>Based on option print the following </a:t>
            </a:r>
            <a:r>
              <a:rPr lang="en-US" b="1" dirty="0"/>
              <a:t>(use functions)</a:t>
            </a:r>
          </a:p>
          <a:p>
            <a:pPr lvl="3"/>
            <a:r>
              <a:rPr lang="en-US" dirty="0"/>
              <a:t>1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x+y</a:t>
            </a:r>
            <a:r>
              <a:rPr lang="en-US" dirty="0">
                <a:sym typeface="Wingdings" panose="05000000000000000000" pitchFamily="2" charset="2"/>
              </a:rPr>
              <a:t>;</a:t>
            </a:r>
          </a:p>
          <a:p>
            <a:pPr lvl="3"/>
            <a:r>
              <a:rPr lang="en-US" dirty="0">
                <a:sym typeface="Wingdings" panose="05000000000000000000" pitchFamily="2" charset="2"/>
              </a:rPr>
              <a:t>2 x-y;</a:t>
            </a:r>
          </a:p>
          <a:p>
            <a:pPr lvl="3"/>
            <a:r>
              <a:rPr lang="en-US" dirty="0">
                <a:sym typeface="Wingdings" panose="05000000000000000000" pitchFamily="2" charset="2"/>
              </a:rPr>
              <a:t>3 x*y;</a:t>
            </a:r>
          </a:p>
          <a:p>
            <a:pPr lvl="3"/>
            <a:r>
              <a:rPr lang="en-US" dirty="0">
                <a:sym typeface="Wingdings" panose="05000000000000000000" pitchFamily="2" charset="2"/>
              </a:rPr>
              <a:t>4x/y</a:t>
            </a:r>
          </a:p>
          <a:p>
            <a:pPr lvl="3"/>
            <a:r>
              <a:rPr lang="en-US" dirty="0">
                <a:sym typeface="Wingdings" panose="05000000000000000000" pitchFamily="2" charset="2"/>
              </a:rPr>
              <a:t>5  exit the program</a:t>
            </a:r>
          </a:p>
          <a:p>
            <a:pPr lvl="3"/>
            <a:r>
              <a:rPr lang="en-US" dirty="0">
                <a:sym typeface="Wingdings" panose="05000000000000000000" pitchFamily="2" charset="2"/>
              </a:rPr>
              <a:t>(option &lt;1 || option &gt;5 )  “chose between 1 to 4”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BD907C-FB8B-22EF-064B-3C89514AE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D28D7-6E50-D742-F2AC-6EBEAE5B0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60812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42029-DF4C-3088-1614-4A8AF5430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Flowchart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692BD-30E4-CDE4-47DC-F39D054E2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 ~ Circle</a:t>
            </a:r>
          </a:p>
          <a:p>
            <a:r>
              <a:rPr lang="en-US" dirty="0"/>
              <a:t>Return ~ Back Circle</a:t>
            </a:r>
          </a:p>
          <a:p>
            <a:r>
              <a:rPr lang="en-US" dirty="0"/>
              <a:t>Lets code this 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668CF4-55CC-C3C9-4EE7-FAB88CE2D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300" y="232725"/>
            <a:ext cx="6669866" cy="595206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DEAE3B-3367-F592-F5F9-0417D3306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DA4E46-5752-BB10-53D3-552C850B4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36748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1C634-D470-3CB4-8283-6655D6965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 function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1A9639-73CA-AC87-3861-F5FA0EE980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671" y="1946787"/>
            <a:ext cx="6625107" cy="3796152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092499-2790-48DB-B2F5-DC04230C3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4138B-EE91-8E3E-5407-C348CC28C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67413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BFB9-8B5C-5E7F-8D7E-1298713E2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function nuances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F46EF-2D26-A230-501D-8271A3FCE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 don’t have to return a value</a:t>
            </a:r>
          </a:p>
          <a:p>
            <a:pPr lvl="1"/>
            <a:r>
              <a:rPr lang="en-US" dirty="0"/>
              <a:t>Then must use “void” as return type.</a:t>
            </a:r>
          </a:p>
          <a:p>
            <a:pPr lvl="2"/>
            <a:r>
              <a:rPr lang="en-US" dirty="0"/>
              <a:t>void Print(int x) {..}</a:t>
            </a:r>
          </a:p>
          <a:p>
            <a:r>
              <a:rPr lang="en-US" dirty="0"/>
              <a:t>Function can exist without  parameters</a:t>
            </a:r>
          </a:p>
          <a:p>
            <a:pPr lvl="1"/>
            <a:r>
              <a:rPr lang="en-US" dirty="0"/>
              <a:t>void Print(){..}</a:t>
            </a:r>
          </a:p>
          <a:p>
            <a:r>
              <a:rPr lang="en-US" dirty="0"/>
              <a:t>Functions can call other functions  (</a:t>
            </a:r>
            <a:r>
              <a:rPr lang="en-US" i="1" dirty="0"/>
              <a:t>nested functions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Like main calls add </a:t>
            </a:r>
          </a:p>
          <a:p>
            <a:r>
              <a:rPr lang="en-US" dirty="0"/>
              <a:t>A function can call itself (</a:t>
            </a:r>
            <a:r>
              <a:rPr lang="en-US" i="1" dirty="0"/>
              <a:t>recursion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935383-3738-2B12-6003-6E94288C2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DC13F0-621C-50B7-CF92-2150D434C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01530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A4847-4F31-559F-A2B3-642D5DD8D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A24D6-3483-ACB9-6326-5231C71A4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Write a program to convert </a:t>
            </a:r>
            <a:r>
              <a:rPr lang="en-US" dirty="0" err="1"/>
              <a:t>temperaturs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Celsius to Fahrenheit </a:t>
            </a:r>
          </a:p>
          <a:p>
            <a:pPr lvl="1"/>
            <a:r>
              <a:rPr lang="en-US" dirty="0"/>
              <a:t>and Fahrenheit to Celsius</a:t>
            </a:r>
          </a:p>
          <a:p>
            <a:r>
              <a:rPr lang="en-US" dirty="0"/>
              <a:t>Use enters temperature and option </a:t>
            </a:r>
          </a:p>
          <a:p>
            <a:pPr lvl="1"/>
            <a:r>
              <a:rPr lang="en-US" dirty="0"/>
              <a:t>Option 1</a:t>
            </a:r>
            <a:endParaRPr lang="en-US" dirty="0">
              <a:sym typeface="Wingdings" panose="05000000000000000000" pitchFamily="2" charset="2"/>
            </a:endParaRPr>
          </a:p>
          <a:p>
            <a:pPr lvl="2"/>
            <a:r>
              <a:rPr lang="en-US" dirty="0">
                <a:sym typeface="Wingdings" panose="05000000000000000000" pitchFamily="2" charset="2"/>
              </a:rPr>
              <a:t>Assume Celsius, </a:t>
            </a:r>
            <a:r>
              <a:rPr lang="en-US" dirty="0"/>
              <a:t> Convert to Fahrenheit</a:t>
            </a:r>
          </a:p>
          <a:p>
            <a:pPr lvl="2"/>
            <a:r>
              <a:rPr lang="en-US" dirty="0"/>
              <a:t>e.g. 0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32</a:t>
            </a:r>
          </a:p>
          <a:p>
            <a:pPr lvl="1"/>
            <a:r>
              <a:rPr lang="en-US" dirty="0"/>
              <a:t>Option 2 </a:t>
            </a:r>
          </a:p>
          <a:p>
            <a:pPr lvl="2"/>
            <a:r>
              <a:rPr lang="en-US" dirty="0"/>
              <a:t>Assume Fahrenheit, </a:t>
            </a:r>
            <a:r>
              <a:rPr lang="en-US" dirty="0">
                <a:sym typeface="Wingdings" panose="05000000000000000000" pitchFamily="2" charset="2"/>
              </a:rPr>
              <a:t> Convert to Celsius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e.g. 180 100</a:t>
            </a:r>
          </a:p>
          <a:p>
            <a:r>
              <a:rPr lang="en-US" dirty="0">
                <a:sym typeface="Wingdings" panose="05000000000000000000" pitchFamily="2" charset="2"/>
              </a:rPr>
              <a:t>Formula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F  = C * (180/100) + 32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 = (F -32) * 100/180</a:t>
            </a:r>
          </a:p>
          <a:p>
            <a:r>
              <a:rPr lang="en-US" b="1" dirty="0">
                <a:sym typeface="Wingdings" panose="05000000000000000000" pitchFamily="2" charset="2"/>
              </a:rPr>
              <a:t>Must use functions 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5092D6-8180-2D07-7D49-051EA1421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1182BB-43E9-1925-E8AC-066D5E4F4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3696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BB50B-7286-8A60-CD76-A3CC349A4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Boss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F59E-03BD-FCB6-26BB-D419FD7CE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Fibonacci series : 0,1,1,2,3,5,8,13,21,34,55….</a:t>
            </a:r>
          </a:p>
          <a:p>
            <a:pPr lvl="1"/>
            <a:r>
              <a:rPr lang="en-US" dirty="0"/>
              <a:t>Starts with 0,1 and each number after is sum of previous 2 numbers</a:t>
            </a:r>
          </a:p>
          <a:p>
            <a:pPr lvl="1"/>
            <a:r>
              <a:rPr lang="en-US" dirty="0"/>
              <a:t>0 + 1 </a:t>
            </a:r>
            <a:r>
              <a:rPr lang="en-US" dirty="0">
                <a:sym typeface="Wingdings" panose="05000000000000000000" pitchFamily="2" charset="2"/>
              </a:rPr>
              <a:t>  1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1 + 1   2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8+1321</a:t>
            </a:r>
            <a:endParaRPr lang="en-US" dirty="0"/>
          </a:p>
          <a:p>
            <a:r>
              <a:rPr lang="en-US" dirty="0"/>
              <a:t>Task 1</a:t>
            </a:r>
          </a:p>
          <a:p>
            <a:pPr lvl="1"/>
            <a:r>
              <a:rPr lang="en-US" dirty="0"/>
              <a:t>Print n</a:t>
            </a:r>
            <a:r>
              <a:rPr lang="en-US" baseline="30000" dirty="0"/>
              <a:t>th</a:t>
            </a:r>
            <a:r>
              <a:rPr lang="en-US" dirty="0"/>
              <a:t> number from Fibonacci series using functions</a:t>
            </a:r>
          </a:p>
          <a:p>
            <a:r>
              <a:rPr lang="en-US" dirty="0"/>
              <a:t>Task 2</a:t>
            </a:r>
          </a:p>
          <a:p>
            <a:pPr lvl="1"/>
            <a:r>
              <a:rPr lang="en-US" dirty="0"/>
              <a:t>Print each Fibonacci number all the way to n</a:t>
            </a:r>
            <a:r>
              <a:rPr lang="en-US" baseline="30000" dirty="0"/>
              <a:t>th</a:t>
            </a:r>
            <a:r>
              <a:rPr lang="en-US" dirty="0"/>
              <a:t> number</a:t>
            </a:r>
          </a:p>
          <a:p>
            <a:r>
              <a:rPr lang="en-US" dirty="0"/>
              <a:t>Hints</a:t>
            </a:r>
          </a:p>
          <a:p>
            <a:pPr lvl="1"/>
            <a:r>
              <a:rPr lang="en-US" dirty="0"/>
              <a:t>Use functions </a:t>
            </a:r>
          </a:p>
          <a:p>
            <a:pPr lvl="1"/>
            <a:r>
              <a:rPr lang="en-US" dirty="0"/>
              <a:t>Use </a:t>
            </a:r>
            <a:r>
              <a:rPr lang="en-US" i="1" dirty="0"/>
              <a:t>appropriate</a:t>
            </a:r>
            <a:r>
              <a:rPr lang="en-US" dirty="0"/>
              <a:t> function parameters </a:t>
            </a:r>
          </a:p>
          <a:p>
            <a:pPr lvl="1"/>
            <a:r>
              <a:rPr lang="en-US" dirty="0"/>
              <a:t>Use recursive functions 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C30C14-7573-F4E9-E4C8-7CC4E03D3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28C1C7-EE3F-ED03-E48B-A45860C56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69072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03FE4-E0CF-9BBE-EED4-9CC1E506A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 in 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118FF-F325-7813-4CD3-021084819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String are made of characters</a:t>
            </a:r>
          </a:p>
          <a:p>
            <a:r>
              <a:rPr lang="en-US" dirty="0"/>
              <a:t>Fundamentally it is array of char </a:t>
            </a:r>
          </a:p>
          <a:p>
            <a:pPr lvl="1"/>
            <a:r>
              <a:rPr lang="en-US" dirty="0"/>
              <a:t>char name[10];</a:t>
            </a:r>
          </a:p>
          <a:p>
            <a:r>
              <a:rPr lang="en-US" dirty="0"/>
              <a:t>They are null terminated</a:t>
            </a:r>
          </a:p>
          <a:p>
            <a:pPr lvl="1"/>
            <a:r>
              <a:rPr lang="en-US" dirty="0"/>
              <a:t>Last character in array is null : ‘\0’</a:t>
            </a:r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char greeting[20] = “hello;</a:t>
            </a:r>
          </a:p>
          <a:p>
            <a:pPr lvl="1"/>
            <a:r>
              <a:rPr lang="en-US" dirty="0"/>
              <a:t>char name[20] = “Adam”;</a:t>
            </a:r>
          </a:p>
          <a:p>
            <a:r>
              <a:rPr lang="en-US" i="1" dirty="0"/>
              <a:t>* there is a second advanced type of string in C++, </a:t>
            </a:r>
            <a:r>
              <a:rPr lang="en-US" b="1" i="1" dirty="0"/>
              <a:t>std::string</a:t>
            </a:r>
          </a:p>
          <a:p>
            <a:pPr lvl="1"/>
            <a:r>
              <a:rPr lang="en-US" dirty="0"/>
              <a:t>This is fundamentally </a:t>
            </a:r>
            <a:r>
              <a:rPr lang="en-US" b="1" dirty="0"/>
              <a:t>different from array of char </a:t>
            </a:r>
            <a:r>
              <a:rPr lang="en-US" dirty="0"/>
              <a:t>above</a:t>
            </a:r>
          </a:p>
          <a:p>
            <a:pPr lvl="1"/>
            <a:r>
              <a:rPr lang="en-US" dirty="0"/>
              <a:t>(But it is also very similar)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10A7A-9F9D-292B-D812-93EBA59C9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11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0331BA-2141-9BF3-DF1D-092DBF46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21699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E08C5-527E-597A-7125-D77EBF18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: fundamentals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D5AF42-F8C6-00B7-F2BB-9E65256CCC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6064" y="1953282"/>
            <a:ext cx="5931205" cy="3657788"/>
          </a:xfr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75DCB-4353-DA43-A40F-6B5C6DEF1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11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1ACB1E-2C6F-15DE-B0F2-0A0ED3F12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37152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7F2C6-6830-7B54-CD06-044EA3D2C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operations : include&lt;</a:t>
            </a:r>
            <a:r>
              <a:rPr lang="en-US" dirty="0" err="1"/>
              <a:t>string.h</a:t>
            </a:r>
            <a:r>
              <a:rPr lang="en-US" dirty="0"/>
              <a:t>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4E3CA-1390-B84A-5813-5FD3CEBEB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strlen</a:t>
            </a:r>
            <a:r>
              <a:rPr lang="en-US" dirty="0"/>
              <a:t>(): Returns the length of a string (excluding the null terminator).</a:t>
            </a:r>
          </a:p>
          <a:p>
            <a:r>
              <a:rPr lang="en-US" dirty="0" err="1"/>
              <a:t>strcpy</a:t>
            </a:r>
            <a:r>
              <a:rPr lang="en-US" dirty="0"/>
              <a:t>(): Copies one string to another.</a:t>
            </a:r>
          </a:p>
          <a:p>
            <a:r>
              <a:rPr lang="en-US" dirty="0" err="1"/>
              <a:t>strcat</a:t>
            </a:r>
            <a:r>
              <a:rPr lang="en-US" dirty="0"/>
              <a:t>(): Concatenates two strings.</a:t>
            </a:r>
          </a:p>
          <a:p>
            <a:r>
              <a:rPr lang="en-US" dirty="0" err="1"/>
              <a:t>strcmp</a:t>
            </a:r>
            <a:r>
              <a:rPr lang="en-US" dirty="0"/>
              <a:t>(): Compares two strings.</a:t>
            </a:r>
          </a:p>
          <a:p>
            <a:r>
              <a:rPr lang="en-US" dirty="0" err="1"/>
              <a:t>strstr</a:t>
            </a:r>
            <a:r>
              <a:rPr lang="en-US" dirty="0"/>
              <a:t>(): Finds the first occurrence of a substring within a string.</a:t>
            </a:r>
          </a:p>
          <a:p>
            <a:r>
              <a:rPr lang="en-US" dirty="0"/>
              <a:t>Some compiler will require to use _s versions of these functions</a:t>
            </a:r>
          </a:p>
          <a:p>
            <a:pPr lvl="1"/>
            <a:r>
              <a:rPr lang="en-US" dirty="0"/>
              <a:t>E.g. </a:t>
            </a:r>
            <a:r>
              <a:rPr lang="en-US" dirty="0" err="1"/>
              <a:t>strcpy_s</a:t>
            </a:r>
            <a:r>
              <a:rPr lang="en-US" dirty="0"/>
              <a:t> instead of </a:t>
            </a:r>
            <a:r>
              <a:rPr lang="en-US" dirty="0" err="1"/>
              <a:t>strcpy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8EC43-7618-B2E9-9760-6807E33B5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11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304F85-5D58-66F7-8021-EEDA49903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97545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B9261-4602-4943-8281-E3C03441C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string functions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927209-7FE4-59F3-42A7-1A7DFEEE66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9052" y="1763841"/>
            <a:ext cx="5950173" cy="4351338"/>
          </a:xfr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BB9542-8B5F-AAE9-4DA2-CB19339CD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11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6A117-B733-AC52-5190-2B623D703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4439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3E95A-A985-5046-9E7A-C35F5326D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7EF14-DB9E-343A-79A5-71D8E18C9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you find string sizes ?</a:t>
            </a:r>
          </a:p>
          <a:p>
            <a:pPr lvl="1"/>
            <a:r>
              <a:rPr lang="en-US" dirty="0" err="1"/>
              <a:t>strlen</a:t>
            </a:r>
            <a:endParaRPr lang="en-US" dirty="0"/>
          </a:p>
          <a:p>
            <a:r>
              <a:rPr lang="en-US" dirty="0"/>
              <a:t>How do you compare strings  ?</a:t>
            </a:r>
          </a:p>
          <a:p>
            <a:pPr lvl="1"/>
            <a:r>
              <a:rPr lang="en-US" dirty="0"/>
              <a:t>For &lt;,&gt;,==</a:t>
            </a:r>
          </a:p>
          <a:p>
            <a:pPr lvl="1"/>
            <a:r>
              <a:rPr lang="en-US" dirty="0"/>
              <a:t>*Use </a:t>
            </a:r>
            <a:r>
              <a:rPr lang="en-US" dirty="0" err="1"/>
              <a:t>strcmp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C61286-F737-8649-7BCB-88B93CE96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11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87C79-4ECC-979F-BAAE-52D3A3A31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99036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C879A-25C9-E077-78D5-53BFEC51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Strcmp</a:t>
            </a:r>
            <a:r>
              <a:rPr lang="en-US" dirty="0"/>
              <a:t> example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0EDD1A4-ADBC-399A-BD96-8F38611ACC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7474" y="1787701"/>
            <a:ext cx="4998074" cy="4351338"/>
          </a:xfr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1E2DABF-D85A-F862-6E7F-3F038D745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11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8667587-5AA2-9712-76E6-0A388EA71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52448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01EAF-3BCA-2FF8-5CE3-46D03D9D4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DB0EF-05B9-4BE9-6767-3DD63418D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 string to upper cases</a:t>
            </a:r>
          </a:p>
          <a:p>
            <a:pPr lvl="1"/>
            <a:r>
              <a:rPr lang="en-US" dirty="0"/>
              <a:t>hello -&gt;HELLO</a:t>
            </a:r>
          </a:p>
          <a:p>
            <a:pPr lvl="1"/>
            <a:r>
              <a:rPr lang="en-US" dirty="0"/>
              <a:t>ChatGPT -&gt; CHATGPT</a:t>
            </a:r>
          </a:p>
          <a:p>
            <a:r>
              <a:rPr lang="en-US" dirty="0"/>
              <a:t>Reverse a string </a:t>
            </a:r>
          </a:p>
          <a:p>
            <a:pPr lvl="1"/>
            <a:r>
              <a:rPr lang="en-US" dirty="0"/>
              <a:t>Hello -&gt; </a:t>
            </a:r>
            <a:r>
              <a:rPr lang="en-US" dirty="0" err="1"/>
              <a:t>olleH</a:t>
            </a:r>
            <a:endParaRPr lang="en-US" dirty="0"/>
          </a:p>
          <a:p>
            <a:pPr lvl="1"/>
            <a:r>
              <a:rPr lang="en-US" dirty="0"/>
              <a:t>six-seven -&gt; </a:t>
            </a:r>
            <a:r>
              <a:rPr lang="en-US" dirty="0" err="1"/>
              <a:t>neves-xis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93A58-936C-B55A-2DE5-36BC62D4C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11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E94FFC-273D-017B-35B1-649DEAC1E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95130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4D8D5-89A0-8088-4FD7-717668641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Boss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E8EC2-08AF-206D-04A9-0C328F850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Count words in a sentence </a:t>
            </a:r>
          </a:p>
          <a:p>
            <a:pPr lvl="1"/>
            <a:r>
              <a:rPr lang="en-US" dirty="0"/>
              <a:t>“A quick brown fox jumps over the lazy dog” -&gt; 9</a:t>
            </a:r>
          </a:p>
          <a:p>
            <a:pPr lvl="1"/>
            <a:r>
              <a:rPr lang="en-US" dirty="0"/>
              <a:t>“Pa may we all go to” -&gt; 6</a:t>
            </a:r>
          </a:p>
          <a:p>
            <a:r>
              <a:rPr lang="en-US" dirty="0"/>
              <a:t>Reverse the words of the sentence in place</a:t>
            </a:r>
          </a:p>
          <a:p>
            <a:pPr lvl="1"/>
            <a:r>
              <a:rPr lang="en-US" dirty="0"/>
              <a:t>“A quick brown fox jumps over the lazy dog”</a:t>
            </a:r>
          </a:p>
          <a:p>
            <a:pPr lvl="2"/>
            <a:r>
              <a:rPr lang="en-US" dirty="0"/>
              <a:t>“A </a:t>
            </a:r>
            <a:r>
              <a:rPr lang="en-US" dirty="0" err="1"/>
              <a:t>kciuq</a:t>
            </a:r>
            <a:r>
              <a:rPr lang="en-US" dirty="0"/>
              <a:t> </a:t>
            </a:r>
            <a:r>
              <a:rPr lang="en-US" dirty="0" err="1"/>
              <a:t>nworb</a:t>
            </a:r>
            <a:r>
              <a:rPr lang="en-US" dirty="0"/>
              <a:t> </a:t>
            </a:r>
            <a:r>
              <a:rPr lang="en-US" dirty="0" err="1"/>
              <a:t>xof</a:t>
            </a:r>
            <a:r>
              <a:rPr lang="en-US" dirty="0"/>
              <a:t> </a:t>
            </a:r>
            <a:r>
              <a:rPr lang="en-US" dirty="0" err="1"/>
              <a:t>spmuj</a:t>
            </a:r>
            <a:r>
              <a:rPr lang="en-US" dirty="0"/>
              <a:t> </a:t>
            </a:r>
            <a:r>
              <a:rPr lang="en-US" dirty="0" err="1"/>
              <a:t>revo</a:t>
            </a:r>
            <a:r>
              <a:rPr lang="en-US" dirty="0"/>
              <a:t> </a:t>
            </a:r>
            <a:r>
              <a:rPr lang="en-US" dirty="0" err="1"/>
              <a:t>eht</a:t>
            </a:r>
            <a:r>
              <a:rPr lang="en-US" dirty="0"/>
              <a:t> </a:t>
            </a:r>
            <a:r>
              <a:rPr lang="en-US" dirty="0" err="1"/>
              <a:t>yzal</a:t>
            </a:r>
            <a:r>
              <a:rPr lang="en-US" dirty="0"/>
              <a:t> god”</a:t>
            </a:r>
          </a:p>
          <a:p>
            <a:pPr lvl="1"/>
            <a:r>
              <a:rPr lang="en-US" dirty="0"/>
              <a:t>“Pa may we all to go”</a:t>
            </a:r>
          </a:p>
          <a:p>
            <a:pPr lvl="2"/>
            <a:r>
              <a:rPr lang="en-US" dirty="0" err="1"/>
              <a:t>aP</a:t>
            </a:r>
            <a:r>
              <a:rPr lang="en-US" dirty="0"/>
              <a:t> yam </a:t>
            </a:r>
            <a:r>
              <a:rPr lang="en-US" dirty="0" err="1"/>
              <a:t>ew</a:t>
            </a:r>
            <a:r>
              <a:rPr lang="en-US" dirty="0"/>
              <a:t> </a:t>
            </a:r>
            <a:r>
              <a:rPr lang="en-US" dirty="0" err="1"/>
              <a:t>lla</a:t>
            </a:r>
            <a:r>
              <a:rPr lang="en-US" dirty="0"/>
              <a:t> </a:t>
            </a:r>
            <a:r>
              <a:rPr lang="en-US" dirty="0" err="1"/>
              <a:t>ot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”</a:t>
            </a:r>
          </a:p>
          <a:p>
            <a:pPr lvl="2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7D3FFF-8404-170D-03F0-CCFD5FF3E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11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271CE2-A99F-6B05-BD99-12DFACC9D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10919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F2022-DBA0-F8BB-70DA-B01A01136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data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7C63C-7B86-C453-D132-93C8AB055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already know few built in types</a:t>
            </a:r>
          </a:p>
          <a:p>
            <a:pPr lvl="1"/>
            <a:r>
              <a:rPr lang="en-US" dirty="0"/>
              <a:t>int , float , char, bool</a:t>
            </a:r>
          </a:p>
          <a:p>
            <a:r>
              <a:rPr lang="en-US" dirty="0"/>
              <a:t>string </a:t>
            </a:r>
          </a:p>
          <a:p>
            <a:pPr lvl="1"/>
            <a:r>
              <a:rPr lang="en-US" dirty="0"/>
              <a:t>Is a derived data type, </a:t>
            </a:r>
          </a:p>
          <a:p>
            <a:pPr lvl="1"/>
            <a:r>
              <a:rPr lang="en-US" dirty="0"/>
              <a:t>Useful for names, description etc. </a:t>
            </a:r>
          </a:p>
          <a:p>
            <a:r>
              <a:rPr lang="en-US" dirty="0"/>
              <a:t>Header </a:t>
            </a:r>
          </a:p>
          <a:p>
            <a:pPr lvl="1"/>
            <a:r>
              <a:rPr lang="en-US" dirty="0"/>
              <a:t>#include&lt;string&gt;</a:t>
            </a:r>
          </a:p>
          <a:p>
            <a:r>
              <a:rPr lang="en-US" dirty="0"/>
              <a:t>Usage </a:t>
            </a:r>
          </a:p>
          <a:p>
            <a:pPr lvl="1"/>
            <a:r>
              <a:rPr lang="en-US" dirty="0"/>
              <a:t>string name;</a:t>
            </a:r>
          </a:p>
          <a:p>
            <a:pPr lvl="1"/>
            <a:r>
              <a:rPr lang="en-US" dirty="0" err="1"/>
              <a:t>cin</a:t>
            </a:r>
            <a:r>
              <a:rPr lang="en-US" dirty="0"/>
              <a:t> &gt;&gt; name;</a:t>
            </a:r>
          </a:p>
          <a:p>
            <a:pPr lvl="1"/>
            <a:r>
              <a:rPr lang="en-US" dirty="0" err="1"/>
              <a:t>cout</a:t>
            </a:r>
            <a:r>
              <a:rPr lang="en-US" dirty="0"/>
              <a:t> &lt;&lt;name;</a:t>
            </a:r>
            <a:br>
              <a:rPr lang="en-US" dirty="0"/>
            </a:b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5DF1C2-BCB7-988E-2E18-DF5C6412B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357A0E-A54D-5BCE-A42F-833CB4760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9E123-0CB8-4CD3-A52F-DDEB9B17898B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919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1971</TotalTime>
  <Words>3675</Words>
  <Application>Microsoft Office PowerPoint</Application>
  <PresentationFormat>Widescreen</PresentationFormat>
  <Paragraphs>902</Paragraphs>
  <Slides>83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8" baseType="lpstr">
      <vt:lpstr>Aptos</vt:lpstr>
      <vt:lpstr>Wingdings</vt:lpstr>
      <vt:lpstr>Arial</vt:lpstr>
      <vt:lpstr>Aptos Display</vt:lpstr>
      <vt:lpstr>Office Theme</vt:lpstr>
      <vt:lpstr>Intro to Programming  </vt:lpstr>
      <vt:lpstr>Learning Goals</vt:lpstr>
      <vt:lpstr>Why C/C++</vt:lpstr>
      <vt:lpstr>When NOT C/C++?</vt:lpstr>
      <vt:lpstr>Bit : Smallest unit of memory</vt:lpstr>
      <vt:lpstr>Hertz : Unit of time and speed in Computers</vt:lpstr>
      <vt:lpstr>Hello World </vt:lpstr>
      <vt:lpstr>Print a diamond pattern </vt:lpstr>
      <vt:lpstr>Running the program : model</vt:lpstr>
      <vt:lpstr>Data Types(Primitive/built in)</vt:lpstr>
      <vt:lpstr>Variables</vt:lpstr>
      <vt:lpstr>Data Types (Derived)</vt:lpstr>
      <vt:lpstr>Integer vs floating math</vt:lpstr>
      <vt:lpstr>PowerPoint Presentation</vt:lpstr>
      <vt:lpstr>User Defined Data Type</vt:lpstr>
      <vt:lpstr>Code : Greeting with name/age</vt:lpstr>
      <vt:lpstr>Advanced : Count digits in a number</vt:lpstr>
      <vt:lpstr>Input , Output and Processing for Humans</vt:lpstr>
      <vt:lpstr>I/O and processing for Computers</vt:lpstr>
      <vt:lpstr>Standard Input </vt:lpstr>
      <vt:lpstr>Standard Output</vt:lpstr>
      <vt:lpstr>Operators &gt;&gt;,&lt;&lt;</vt:lpstr>
      <vt:lpstr>Lab</vt:lpstr>
      <vt:lpstr>Assignment : Mad libs story</vt:lpstr>
      <vt:lpstr>Boss Assignment</vt:lpstr>
      <vt:lpstr>Recall , Review</vt:lpstr>
      <vt:lpstr>Measuring computer capabilities (some more units)</vt:lpstr>
      <vt:lpstr>Computer trends</vt:lpstr>
      <vt:lpstr>Back to C++, Decision Making &amp; Branching</vt:lpstr>
      <vt:lpstr>Making Decisions , using “if”</vt:lpstr>
      <vt:lpstr>Making Decisions using “if else”</vt:lpstr>
      <vt:lpstr>Making decision, If else if else</vt:lpstr>
      <vt:lpstr>Relational operators </vt:lpstr>
      <vt:lpstr>Lab (if else)</vt:lpstr>
      <vt:lpstr>Branching using Switch </vt:lpstr>
      <vt:lpstr>Lab (switch)</vt:lpstr>
      <vt:lpstr>Asssignment , quiz game</vt:lpstr>
      <vt:lpstr>Boss Assignment  Convert a string of 0,1 to decimal</vt:lpstr>
      <vt:lpstr>Code, as seen by computer : HelloWorld</vt:lpstr>
      <vt:lpstr>Code , as seen by computer : Find larger num.</vt:lpstr>
      <vt:lpstr>Branching visualized</vt:lpstr>
      <vt:lpstr>Loops : Things that happen over and over …</vt:lpstr>
      <vt:lpstr>Decision making and looping</vt:lpstr>
      <vt:lpstr>Loop : visualized</vt:lpstr>
      <vt:lpstr>Loop : visualized</vt:lpstr>
      <vt:lpstr>Assignment 1, Guess the number </vt:lpstr>
      <vt:lpstr>Boss Assignment </vt:lpstr>
      <vt:lpstr>Assignment 2.* (hint : use while) </vt:lpstr>
      <vt:lpstr>Decision Making at a glance</vt:lpstr>
      <vt:lpstr>Do-while loop</vt:lpstr>
      <vt:lpstr>Do while : example</vt:lpstr>
      <vt:lpstr>While vs do-while,  visualized </vt:lpstr>
      <vt:lpstr>Jumps in loops</vt:lpstr>
      <vt:lpstr>Assignment 1:  Create a menu driven calculator</vt:lpstr>
      <vt:lpstr>Boss Assignment: Menu driven multi purpose program</vt:lpstr>
      <vt:lpstr>Sequences </vt:lpstr>
      <vt:lpstr>Sequence of data types : Arrays</vt:lpstr>
      <vt:lpstr>Array syntax</vt:lpstr>
      <vt:lpstr>Memory layout</vt:lpstr>
      <vt:lpstr>Lab</vt:lpstr>
      <vt:lpstr>Names are sequence of characters</vt:lpstr>
      <vt:lpstr>Double dimension arrays</vt:lpstr>
      <vt:lpstr>Memory layout : double dimension</vt:lpstr>
      <vt:lpstr>Assignment 1</vt:lpstr>
      <vt:lpstr>Boss :Assignment</vt:lpstr>
      <vt:lpstr>Reuse, organize, simplify code</vt:lpstr>
      <vt:lpstr>Functions : Need</vt:lpstr>
      <vt:lpstr>Functions : How  ?</vt:lpstr>
      <vt:lpstr>Lab : lets revisit calculator</vt:lpstr>
      <vt:lpstr>Flowchart View</vt:lpstr>
      <vt:lpstr>Anatomy of a function</vt:lpstr>
      <vt:lpstr>More function nuances</vt:lpstr>
      <vt:lpstr>Assignment</vt:lpstr>
      <vt:lpstr>Boss Assignment</vt:lpstr>
      <vt:lpstr>Strings in C++</vt:lpstr>
      <vt:lpstr>String : fundamentals</vt:lpstr>
      <vt:lpstr>String operations : include&lt;string.h&gt;</vt:lpstr>
      <vt:lpstr>Using string functions</vt:lpstr>
      <vt:lpstr>String operations</vt:lpstr>
      <vt:lpstr>Strcmp example</vt:lpstr>
      <vt:lpstr>Assignment</vt:lpstr>
      <vt:lpstr>Boss Assignment</vt:lpstr>
      <vt:lpstr>string data type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Sankalp Gupta</dc:creator>
  <cp:lastModifiedBy>Sankalp Gupta</cp:lastModifiedBy>
  <cp:revision>50</cp:revision>
  <cp:lastPrinted>2025-10-05T04:58:48Z</cp:lastPrinted>
  <dcterms:created xsi:type="dcterms:W3CDTF">2025-09-17T23:14:38Z</dcterms:created>
  <dcterms:modified xsi:type="dcterms:W3CDTF">2025-12-04T21:01:19Z</dcterms:modified>
</cp:coreProperties>
</file>